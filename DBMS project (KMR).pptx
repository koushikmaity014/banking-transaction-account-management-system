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8" d="100"/>
          <a:sy n="78" d="100"/>
        </p:scale>
        <p:origin x="78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5FE67-B29A-11E9-BE50-2A219D7595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C7E556-211E-0B39-0072-E25B783E46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A70C8C-C6AD-7CAE-37FD-B6F624479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CF779-7DA7-EF7F-085C-738CD54303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497CA-5A91-2884-67A9-2C97F2EBE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17413"/>
      </p:ext>
    </p:extLst>
  </p:cSld>
  <p:clrMapOvr>
    <a:masterClrMapping/>
  </p:clrMapOvr>
  <p:transition spd="slow">
    <p:circl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2C79D-762E-C71F-E72F-391A47744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F763AF-DCB6-9ED4-7B6B-E761D57524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DE06F-AF64-B721-9651-2236E8242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DC9B41-5512-F425-3ACE-CF7743F39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F01BCF-F9C4-31EA-83B0-95A4E5BE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2321885"/>
      </p:ext>
    </p:extLst>
  </p:cSld>
  <p:clrMapOvr>
    <a:masterClrMapping/>
  </p:clrMapOvr>
  <p:transition spd="slow">
    <p:circl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615E9-4A0F-C2D2-26A9-B77F384CD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4F6F0E-B06B-47C5-29DD-F447DEEC8B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C042CA-C943-E075-A10B-3A6B9BE3D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2AEAB-700A-5445-42C6-4C8656DB0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4395B2-FA15-DCAA-A7EE-AFB3B522B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579084"/>
      </p:ext>
    </p:extLst>
  </p:cSld>
  <p:clrMapOvr>
    <a:masterClrMapping/>
  </p:clrMapOvr>
  <p:transition spd="slow">
    <p:circl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C0EE1-E63C-78F0-52D3-0DF239686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B65E1-A4B8-1A16-FD53-E420A20E9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A279E-0467-5C7D-F01C-0029F9B128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8F18B0-4F2C-C7D7-4FCC-A744EC89C7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58BBE-CB48-89C6-57C9-5CEDC1E40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D93CB6-4663-B821-DE05-A677CC28A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9551251"/>
      </p:ext>
    </p:extLst>
  </p:cSld>
  <p:clrMapOvr>
    <a:masterClrMapping/>
  </p:clrMapOvr>
  <p:transition spd="slow">
    <p:circl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DA18D5-CB5E-E88F-DCD7-8F404742C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6779FE-EE1B-CEA6-FE54-ACB57233D1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64772-BD35-B32B-7C40-9EF600EA2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62D314-3836-1A60-9520-4D377B717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02E1E5-BC93-D2F8-47C9-9EF30CD70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A54D06D-FAD9-999F-0B49-834617C5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951430-0FBC-2AC5-9174-8B0E3FE6F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0B0F7D-9808-D8D9-0581-53AD21708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1012084"/>
      </p:ext>
    </p:extLst>
  </p:cSld>
  <p:clrMapOvr>
    <a:masterClrMapping/>
  </p:clrMapOvr>
  <p:transition spd="slow">
    <p:circl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AFA05-CFB0-6A9B-AEAD-D659901E1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90A6F4-119C-6705-1952-080F207B7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43BD1C-AD6F-4627-49DC-75AADE931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AA6D4A-29FD-6E32-026E-C13595366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659910"/>
      </p:ext>
    </p:extLst>
  </p:cSld>
  <p:clrMapOvr>
    <a:masterClrMapping/>
  </p:clrMapOvr>
  <p:transition spd="slow">
    <p:circl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D3854C6-E9AD-784A-2FB9-EAB364383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B3E200-BAEC-1747-7B4F-E7A2F6D5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273ACD-2AE7-776B-3231-69D792B57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698038"/>
      </p:ext>
    </p:extLst>
  </p:cSld>
  <p:clrMapOvr>
    <a:masterClrMapping/>
  </p:clrMapOvr>
  <p:transition spd="slow">
    <p:circl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6D301-3543-E041-906A-68EB25D0A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A2987-D1E6-1833-3E97-C41BF630DE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2ED565-4DCE-8624-70A7-2B140E7D99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B0DC17-44A6-4BA8-F6F0-4D7D75F1C5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3AA5B5-F54F-AB81-8633-7C4B4CC3E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48E2EE-B446-E1A3-1E87-B70005370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583433"/>
      </p:ext>
    </p:extLst>
  </p:cSld>
  <p:clrMapOvr>
    <a:masterClrMapping/>
  </p:clrMapOvr>
  <p:transition spd="slow">
    <p:circl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6C67-8DB8-B699-4665-726408E3E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086AE6-5FA9-2391-BB95-49F5A4AA17B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D094D-A2BB-827A-942A-E31D960F8E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1CE46-01F2-6AFE-2D78-5FFA49790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E4AB79-737B-F9F9-153D-D0DC64EA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808DF0-6998-737E-6B26-93E84B94D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5875902"/>
      </p:ext>
    </p:extLst>
  </p:cSld>
  <p:clrMapOvr>
    <a:masterClrMapping/>
  </p:clrMapOvr>
  <p:transition spd="slow">
    <p:circl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54D61-779C-C103-632E-902C33E94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D328B2-7EF9-04C8-E5FD-08F6F40632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7B952-7821-420D-A078-4278859680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669813-951A-04EC-BE2A-8D553F792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0235D2-B597-065F-75DF-C435542CE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3603479"/>
      </p:ext>
    </p:extLst>
  </p:cSld>
  <p:clrMapOvr>
    <a:masterClrMapping/>
  </p:clrMapOvr>
  <p:transition spd="slow">
    <p:circl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747475-2A6C-0B70-2F10-224000FA59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7CE3EF-2D12-AC7A-4467-1445CE9C3C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95805-F0A2-3CEC-D6B7-C843F2035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C19C8C-6884-485C-90A3-54FDD0CDA73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642EC2-613B-00FF-50FE-B9A7709D3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4797E7-C05A-3F17-45D4-B598846AD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4784964"/>
      </p:ext>
    </p:extLst>
  </p:cSld>
  <p:clrMapOvr>
    <a:masterClrMapping/>
  </p:clrMapOvr>
  <p:transition spd="slow">
    <p:circl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E7BE92-D8AD-DD00-476B-8B321D25C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3FF0DE-DC75-BE5E-5493-FCECF02EB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93017-F994-D205-5C8E-6F61862BB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C19C8C-6884-485C-90A3-54FDD0CDA734}" type="datetimeFigureOut">
              <a:rPr lang="en-IN" smtClean="0"/>
              <a:t>01-10-2026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A6D2E-C236-AB89-1DA0-8F819A296B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C224D5-AAAB-0FE8-F3F0-E22522F7DC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198E48-F97E-417D-8BE9-35AE624EB67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553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circl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ecor 11"/>
          <p:cNvSpPr/>
          <p:nvPr/>
        </p:nvSpPr>
        <p:spPr>
          <a:xfrm>
            <a:off x="7680960" y="822960"/>
            <a:ext cx="6583680" cy="6583680"/>
          </a:xfrm>
          <a:prstGeom prst="ellipse">
            <a:avLst/>
          </a:prstGeom>
          <a:solidFill>
            <a:srgbClr val="163A5F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2" name="Decor 12"/>
          <p:cNvSpPr/>
          <p:nvPr/>
        </p:nvSpPr>
        <p:spPr>
          <a:xfrm>
            <a:off x="8503920" y="1737360"/>
            <a:ext cx="4754880" cy="4754880"/>
          </a:xfrm>
          <a:prstGeom prst="ellipse">
            <a:avLst/>
          </a:prstGeom>
          <a:solidFill>
            <a:srgbClr val="1B4A78"/>
          </a:solidFill>
          <a:ln>
            <a:noFill/>
          </a:ln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1520" y="1554480"/>
            <a:ext cx="6766560" cy="2377440"/>
          </a:xfrm>
        </p:spPr>
        <p:txBody>
          <a:bodyPr lIns="0" anchor="b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4400" b="1" i="0" dirty="0">
                <a:solidFill>
                  <a:srgbClr val="FFFFFF"/>
                </a:solidFill>
              </a:rPr>
              <a:t>Banking Transaction &amp; Account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1520" y="4114800"/>
            <a:ext cx="6766560" cy="1097280"/>
          </a:xfrm>
        </p:spPr>
        <p:txBody>
          <a:bodyPr lIns="0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2200" b="1" i="0" dirty="0">
                <a:solidFill>
                  <a:srgbClr val="A6D6EB"/>
                </a:solidFill>
              </a:rPr>
              <a:t>Database Design Project</a:t>
            </a:r>
          </a:p>
          <a:p>
            <a:pPr algn="l">
              <a:spcBef>
                <a:spcPts val="800"/>
              </a:spcBef>
            </a:pPr>
            <a:r>
              <a:rPr lang="en-US" sz="1500" b="0" i="0" dirty="0">
                <a:solidFill>
                  <a:srgbClr val="D9E6F2"/>
                </a:solidFill>
              </a:rPr>
              <a:t>ER Diagram  ·  Table Structure  ·  Data Integrity</a:t>
            </a:r>
          </a:p>
        </p:txBody>
      </p:sp>
      <p:pic>
        <p:nvPicPr>
          <p:cNvPr id="14" name="Bank icon" descr="Bank building ic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2423160"/>
            <a:ext cx="2194560" cy="2194560"/>
          </a:xfrm>
          <a:prstGeom prst="rect">
            <a:avLst/>
          </a:prstGeom>
        </p:spPr>
      </p:pic>
    </p:spTree>
  </p:cSld>
  <p:clrMapOvr>
    <a:masterClrMapping/>
  </p:clrMapOvr>
  <p:transition spd="slow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chemeClr val="tx2">
                <a:lumMod val="75000"/>
                <a:lumOff val="2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8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3000" b="1" i="0" dirty="0">
                <a:solidFill>
                  <a:srgbClr val="FFFFFF"/>
                </a:solidFill>
              </a:rPr>
              <a:t>Table of Contents</a:t>
            </a:r>
          </a:p>
        </p:txBody>
      </p:sp>
      <p:sp>
        <p:nvSpPr>
          <p:cNvPr id="11" name="Intro 11"/>
          <p:cNvSpPr/>
          <p:nvPr/>
        </p:nvSpPr>
        <p:spPr>
          <a:xfrm>
            <a:off x="548640" y="1188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300" b="1" i="0" dirty="0">
                <a:solidFill>
                  <a:srgbClr val="0E2841"/>
                </a:solidFill>
              </a:rPr>
              <a:t>About this project:  </a:t>
            </a:r>
            <a:r>
              <a:rPr lang="en-US" sz="1300" b="0" i="0" dirty="0">
                <a:solidFill>
                  <a:srgbClr val="404040"/>
                </a:solidFill>
              </a:rPr>
              <a:t>the database design of a banking system, covering its entities, relationships and table structure.</a:t>
            </a:r>
          </a:p>
        </p:txBody>
      </p:sp>
      <p:sp>
        <p:nvSpPr>
          <p:cNvPr id="12" name="Row 12"/>
          <p:cNvSpPr/>
          <p:nvPr/>
        </p:nvSpPr>
        <p:spPr>
          <a:xfrm>
            <a:off x="548640" y="1920240"/>
            <a:ext cx="1109167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3" name="Num 13"/>
          <p:cNvSpPr/>
          <p:nvPr/>
        </p:nvSpPr>
        <p:spPr>
          <a:xfrm>
            <a:off x="777240" y="2057400"/>
            <a:ext cx="512064" cy="512064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600" b="1" i="0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4" name="Item 14"/>
          <p:cNvSpPr txBox="1"/>
          <p:nvPr/>
        </p:nvSpPr>
        <p:spPr>
          <a:xfrm>
            <a:off x="1508760" y="1993392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800" b="1" i="0" dirty="0">
                <a:solidFill>
                  <a:srgbClr val="0E2841"/>
                </a:solidFill>
              </a:rPr>
              <a:t>Entity-Relationship Diagram</a:t>
            </a:r>
          </a:p>
          <a:p>
            <a:pPr algn="l">
              <a:spcBef>
                <a:spcPts val="200"/>
              </a:spcBef>
            </a:pPr>
            <a:r>
              <a:rPr lang="en-US" sz="1250" b="0" i="0" dirty="0">
                <a:solidFill>
                  <a:srgbClr val="595959"/>
                </a:solidFill>
              </a:rPr>
              <a:t>Overview of all entities and how they are related</a:t>
            </a:r>
          </a:p>
        </p:txBody>
      </p:sp>
      <p:sp>
        <p:nvSpPr>
          <p:cNvPr id="15" name="Pages 15"/>
          <p:cNvSpPr txBox="1"/>
          <p:nvPr/>
        </p:nvSpPr>
        <p:spPr>
          <a:xfrm>
            <a:off x="9509760" y="1993392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1400" b="1" i="0" dirty="0">
                <a:solidFill>
                  <a:srgbClr val="156082"/>
                </a:solidFill>
              </a:rPr>
              <a:t>Slide 3</a:t>
            </a:r>
          </a:p>
        </p:txBody>
      </p:sp>
      <p:sp>
        <p:nvSpPr>
          <p:cNvPr id="16" name="Row 16"/>
          <p:cNvSpPr/>
          <p:nvPr/>
        </p:nvSpPr>
        <p:spPr>
          <a:xfrm>
            <a:off x="548640" y="2816352"/>
            <a:ext cx="1109167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7" name="Num 17"/>
          <p:cNvSpPr/>
          <p:nvPr/>
        </p:nvSpPr>
        <p:spPr>
          <a:xfrm>
            <a:off x="777240" y="2953512"/>
            <a:ext cx="512064" cy="512064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600" b="1" i="0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8" name="Item 18"/>
          <p:cNvSpPr txBox="1"/>
          <p:nvPr/>
        </p:nvSpPr>
        <p:spPr>
          <a:xfrm>
            <a:off x="1508760" y="2889504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800" b="1" i="0" dirty="0">
                <a:solidFill>
                  <a:srgbClr val="0E2841"/>
                </a:solidFill>
              </a:rPr>
              <a:t>Part 1 — Core Banking</a:t>
            </a:r>
          </a:p>
          <a:p>
            <a:pPr algn="l">
              <a:spcBef>
                <a:spcPts val="200"/>
              </a:spcBef>
            </a:pPr>
            <a:r>
              <a:rPr lang="en-US" sz="1250" b="0" i="0" dirty="0">
                <a:solidFill>
                  <a:srgbClr val="595959"/>
                </a:solidFill>
              </a:rPr>
              <a:t>Branch, Customer, Employee, Account Type and Account</a:t>
            </a:r>
          </a:p>
        </p:txBody>
      </p:sp>
      <p:sp>
        <p:nvSpPr>
          <p:cNvPr id="19" name="Pages 19"/>
          <p:cNvSpPr txBox="1"/>
          <p:nvPr/>
        </p:nvSpPr>
        <p:spPr>
          <a:xfrm>
            <a:off x="9509760" y="2889504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1400" b="1" i="0" dirty="0">
                <a:solidFill>
                  <a:srgbClr val="156082"/>
                </a:solidFill>
              </a:rPr>
              <a:t>Slides 4–6</a:t>
            </a:r>
          </a:p>
        </p:txBody>
      </p:sp>
      <p:sp>
        <p:nvSpPr>
          <p:cNvPr id="20" name="Row 20"/>
          <p:cNvSpPr/>
          <p:nvPr/>
        </p:nvSpPr>
        <p:spPr>
          <a:xfrm>
            <a:off x="548640" y="3712464"/>
            <a:ext cx="1109167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21" name="Num 21"/>
          <p:cNvSpPr/>
          <p:nvPr/>
        </p:nvSpPr>
        <p:spPr>
          <a:xfrm>
            <a:off x="777240" y="3849624"/>
            <a:ext cx="512064" cy="512064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600" b="1" i="0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Item 22"/>
          <p:cNvSpPr txBox="1"/>
          <p:nvPr/>
        </p:nvSpPr>
        <p:spPr>
          <a:xfrm>
            <a:off x="1508760" y="3785616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800" b="1" i="0" dirty="0">
                <a:solidFill>
                  <a:srgbClr val="0E2841"/>
                </a:solidFill>
              </a:rPr>
              <a:t>Part 2 — Transaction &amp; Fund Transfer</a:t>
            </a:r>
          </a:p>
          <a:p>
            <a:pPr algn="l">
              <a:spcBef>
                <a:spcPts val="200"/>
              </a:spcBef>
            </a:pPr>
            <a:r>
              <a:rPr lang="en-US" sz="1250" b="0" i="0" dirty="0">
                <a:solidFill>
                  <a:srgbClr val="595959"/>
                </a:solidFill>
              </a:rPr>
              <a:t>Financial activity and money transfers between accounts</a:t>
            </a:r>
          </a:p>
        </p:txBody>
      </p:sp>
      <p:sp>
        <p:nvSpPr>
          <p:cNvPr id="23" name="Pages 23"/>
          <p:cNvSpPr txBox="1"/>
          <p:nvPr/>
        </p:nvSpPr>
        <p:spPr>
          <a:xfrm>
            <a:off x="9509760" y="3785616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1400" b="1" i="0" dirty="0">
                <a:solidFill>
                  <a:srgbClr val="156082"/>
                </a:solidFill>
              </a:rPr>
              <a:t>Slide 7</a:t>
            </a:r>
          </a:p>
        </p:txBody>
      </p:sp>
      <p:sp>
        <p:nvSpPr>
          <p:cNvPr id="24" name="Row 24"/>
          <p:cNvSpPr/>
          <p:nvPr/>
        </p:nvSpPr>
        <p:spPr>
          <a:xfrm>
            <a:off x="548640" y="4608576"/>
            <a:ext cx="1109167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25" name="Num 25"/>
          <p:cNvSpPr/>
          <p:nvPr/>
        </p:nvSpPr>
        <p:spPr>
          <a:xfrm>
            <a:off x="777240" y="4745736"/>
            <a:ext cx="512064" cy="512064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600" b="1" i="0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Item 26"/>
          <p:cNvSpPr txBox="1"/>
          <p:nvPr/>
        </p:nvSpPr>
        <p:spPr>
          <a:xfrm>
            <a:off x="1508760" y="4681728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800" b="1" i="0" dirty="0">
                <a:solidFill>
                  <a:srgbClr val="0E2841"/>
                </a:solidFill>
              </a:rPr>
              <a:t>Part 3 — Loan Management</a:t>
            </a:r>
          </a:p>
          <a:p>
            <a:pPr algn="l">
              <a:spcBef>
                <a:spcPts val="200"/>
              </a:spcBef>
            </a:pPr>
            <a:r>
              <a:rPr lang="en-US" sz="1250" b="0" i="0" dirty="0">
                <a:solidFill>
                  <a:srgbClr val="595959"/>
                </a:solidFill>
              </a:rPr>
              <a:t>Loan Type, Loan and Loan Payment</a:t>
            </a:r>
          </a:p>
        </p:txBody>
      </p:sp>
      <p:sp>
        <p:nvSpPr>
          <p:cNvPr id="27" name="Pages 27"/>
          <p:cNvSpPr txBox="1"/>
          <p:nvPr/>
        </p:nvSpPr>
        <p:spPr>
          <a:xfrm>
            <a:off x="9509760" y="4681728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1400" b="1" i="0" dirty="0">
                <a:solidFill>
                  <a:srgbClr val="156082"/>
                </a:solidFill>
              </a:rPr>
              <a:t>Slides 8–9</a:t>
            </a:r>
          </a:p>
        </p:txBody>
      </p:sp>
      <p:sp>
        <p:nvSpPr>
          <p:cNvPr id="28" name="Row 28"/>
          <p:cNvSpPr/>
          <p:nvPr/>
        </p:nvSpPr>
        <p:spPr>
          <a:xfrm>
            <a:off x="548640" y="5504688"/>
            <a:ext cx="11091672" cy="78638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29" name="Num 29"/>
          <p:cNvSpPr/>
          <p:nvPr/>
        </p:nvSpPr>
        <p:spPr>
          <a:xfrm>
            <a:off x="777240" y="5641848"/>
            <a:ext cx="512064" cy="512064"/>
          </a:xfrm>
          <a:prstGeom prst="ellipse">
            <a:avLst/>
          </a:prstGeom>
          <a:solidFill>
            <a:srgbClr val="0E2841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1600" b="1" i="0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Item 30"/>
          <p:cNvSpPr txBox="1"/>
          <p:nvPr/>
        </p:nvSpPr>
        <p:spPr>
          <a:xfrm>
            <a:off x="1508760" y="5577840"/>
            <a:ext cx="786384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800" b="1" i="0" dirty="0">
                <a:solidFill>
                  <a:srgbClr val="0E2841"/>
                </a:solidFill>
              </a:rPr>
              <a:t>Part 4 — Authentication &amp; Data Integrity</a:t>
            </a:r>
          </a:p>
          <a:p>
            <a:pPr algn="l">
              <a:spcBef>
                <a:spcPts val="200"/>
              </a:spcBef>
            </a:pPr>
            <a:r>
              <a:rPr lang="en-US" sz="1250" b="0" i="0" dirty="0">
                <a:solidFill>
                  <a:srgbClr val="595959"/>
                </a:solidFill>
              </a:rPr>
              <a:t>Login details and the rules that keep data valid</a:t>
            </a:r>
          </a:p>
        </p:txBody>
      </p:sp>
      <p:sp>
        <p:nvSpPr>
          <p:cNvPr id="31" name="Pages 31"/>
          <p:cNvSpPr txBox="1"/>
          <p:nvPr/>
        </p:nvSpPr>
        <p:spPr>
          <a:xfrm>
            <a:off x="9509760" y="5577840"/>
            <a:ext cx="196596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anchor="ctr">
            <a:noAutofit/>
          </a:bodyPr>
          <a:lstStyle/>
          <a:p>
            <a:pPr algn="r">
              <a:spcBef>
                <a:spcPts val="0"/>
              </a:spcBef>
            </a:pPr>
            <a:r>
              <a:rPr lang="en-US" sz="1400" b="1" i="0" dirty="0">
                <a:solidFill>
                  <a:srgbClr val="156082"/>
                </a:solidFill>
              </a:rPr>
              <a:t>Slide 10</a:t>
            </a:r>
          </a:p>
        </p:txBody>
      </p:sp>
    </p:spTree>
  </p:cSld>
  <p:clrMapOvr>
    <a:masterClrMapping/>
  </p:clrMapOvr>
  <p:transition spd="slow">
    <p:circl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chemeClr val="tx2">
                <a:lumMod val="75000"/>
                <a:lumOff val="2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8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ER Diagram (vector)"/>
          <p:cNvGrpSpPr/>
          <p:nvPr/>
        </p:nvGrpSpPr>
        <p:grpSpPr>
          <a:xfrm>
            <a:off x="1" y="489857"/>
            <a:ext cx="12192000" cy="6368143"/>
            <a:chOff x="1" y="489857"/>
            <a:chExt cx="12192000" cy="6368143"/>
          </a:xfrm>
        </p:grpSpPr>
        <p:sp>
          <p:nvSpPr>
            <p:cNvPr id="101" name="Canvas"/>
            <p:cNvSpPr/>
            <p:nvPr/>
          </p:nvSpPr>
          <p:spPr>
            <a:xfrm>
              <a:off x="1" y="489857"/>
              <a:ext cx="12192000" cy="63681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cxnSp>
          <p:nvCxnSpPr>
            <p:cNvPr id="102" name="Connector 102"/>
            <p:cNvCxnSpPr/>
            <p:nvPr/>
          </p:nvCxnSpPr>
          <p:spPr>
            <a:xfrm>
              <a:off x="2877313" y="1263199"/>
              <a:ext cx="463296" cy="9548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3" name="Connector 103"/>
            <p:cNvCxnSpPr/>
            <p:nvPr/>
          </p:nvCxnSpPr>
          <p:spPr>
            <a:xfrm flipV="1">
              <a:off x="4072129" y="1263199"/>
              <a:ext cx="451104" cy="9548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4" name="Connector 104"/>
            <p:cNvCxnSpPr/>
            <p:nvPr/>
          </p:nvCxnSpPr>
          <p:spPr>
            <a:xfrm>
              <a:off x="5949697" y="1263199"/>
              <a:ext cx="426720" cy="9548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5" name="Connector 105"/>
            <p:cNvCxnSpPr/>
            <p:nvPr/>
          </p:nvCxnSpPr>
          <p:spPr>
            <a:xfrm>
              <a:off x="7107937" y="1272747"/>
              <a:ext cx="475488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6" name="Connector 106"/>
            <p:cNvCxnSpPr/>
            <p:nvPr/>
          </p:nvCxnSpPr>
          <p:spPr>
            <a:xfrm>
              <a:off x="8839201" y="1272747"/>
              <a:ext cx="463296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7" name="Connector 107"/>
            <p:cNvCxnSpPr/>
            <p:nvPr/>
          </p:nvCxnSpPr>
          <p:spPr>
            <a:xfrm flipV="1">
              <a:off x="10034017" y="1263199"/>
              <a:ext cx="426720" cy="9548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8" name="Connector 108"/>
            <p:cNvCxnSpPr/>
            <p:nvPr/>
          </p:nvCxnSpPr>
          <p:spPr>
            <a:xfrm flipH="1">
              <a:off x="2316481" y="1492338"/>
              <a:ext cx="36576" cy="41054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09" name="Connector 109"/>
            <p:cNvCxnSpPr/>
            <p:nvPr/>
          </p:nvCxnSpPr>
          <p:spPr>
            <a:xfrm>
              <a:off x="2304289" y="2552104"/>
              <a:ext cx="195072" cy="525109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cxnSp>
          <p:nvCxnSpPr>
            <p:cNvPr id="110" name="Connector 110"/>
            <p:cNvCxnSpPr/>
            <p:nvPr/>
          </p:nvCxnSpPr>
          <p:spPr>
            <a:xfrm>
              <a:off x="1316737" y="3325446"/>
              <a:ext cx="195072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1" name="Connector 111"/>
            <p:cNvCxnSpPr/>
            <p:nvPr/>
          </p:nvCxnSpPr>
          <p:spPr>
            <a:xfrm>
              <a:off x="2316481" y="3325446"/>
              <a:ext cx="231648" cy="0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cxnSp>
          <p:nvCxnSpPr>
            <p:cNvPr id="112" name="Connector 112"/>
            <p:cNvCxnSpPr/>
            <p:nvPr/>
          </p:nvCxnSpPr>
          <p:spPr>
            <a:xfrm>
              <a:off x="3913633" y="3325446"/>
              <a:ext cx="402336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3" name="Connector 113"/>
            <p:cNvCxnSpPr/>
            <p:nvPr/>
          </p:nvCxnSpPr>
          <p:spPr>
            <a:xfrm>
              <a:off x="5047489" y="3325446"/>
              <a:ext cx="414528" cy="0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cxnSp>
          <p:nvCxnSpPr>
            <p:cNvPr id="114" name="Connector 114"/>
            <p:cNvCxnSpPr/>
            <p:nvPr/>
          </p:nvCxnSpPr>
          <p:spPr>
            <a:xfrm>
              <a:off x="6827521" y="3325446"/>
              <a:ext cx="292608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5" name="Connector 115"/>
            <p:cNvCxnSpPr/>
            <p:nvPr/>
          </p:nvCxnSpPr>
          <p:spPr>
            <a:xfrm>
              <a:off x="7851649" y="3325446"/>
              <a:ext cx="353568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6" name="Connector 116"/>
            <p:cNvCxnSpPr/>
            <p:nvPr/>
          </p:nvCxnSpPr>
          <p:spPr>
            <a:xfrm flipV="1">
              <a:off x="9631681" y="2857622"/>
              <a:ext cx="231648" cy="229138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7" name="Connector 117"/>
            <p:cNvCxnSpPr/>
            <p:nvPr/>
          </p:nvCxnSpPr>
          <p:spPr>
            <a:xfrm>
              <a:off x="10643617" y="2857622"/>
              <a:ext cx="304800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8" name="Connector 118"/>
            <p:cNvCxnSpPr/>
            <p:nvPr/>
          </p:nvCxnSpPr>
          <p:spPr>
            <a:xfrm>
              <a:off x="9631681" y="3554585"/>
              <a:ext cx="231648" cy="152759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19" name="Connector 119"/>
            <p:cNvCxnSpPr/>
            <p:nvPr/>
          </p:nvCxnSpPr>
          <p:spPr>
            <a:xfrm>
              <a:off x="10643617" y="3707344"/>
              <a:ext cx="304800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0" name="Connector 120"/>
            <p:cNvCxnSpPr/>
            <p:nvPr/>
          </p:nvCxnSpPr>
          <p:spPr>
            <a:xfrm>
              <a:off x="3194305" y="3554585"/>
              <a:ext cx="0" cy="295971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cxnSp>
          <p:nvCxnSpPr>
            <p:cNvPr id="121" name="Connector 121"/>
            <p:cNvCxnSpPr/>
            <p:nvPr/>
          </p:nvCxnSpPr>
          <p:spPr>
            <a:xfrm>
              <a:off x="3194305" y="4461592"/>
              <a:ext cx="0" cy="486919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2" name="Connector 122"/>
            <p:cNvCxnSpPr/>
            <p:nvPr/>
          </p:nvCxnSpPr>
          <p:spPr>
            <a:xfrm flipH="1">
              <a:off x="2938273" y="4948511"/>
              <a:ext cx="256032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3" name="Connector 123"/>
            <p:cNvCxnSpPr/>
            <p:nvPr/>
          </p:nvCxnSpPr>
          <p:spPr>
            <a:xfrm>
              <a:off x="2938273" y="4958059"/>
              <a:ext cx="402336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4" name="Connector 124"/>
            <p:cNvCxnSpPr/>
            <p:nvPr/>
          </p:nvCxnSpPr>
          <p:spPr>
            <a:xfrm>
              <a:off x="4072129" y="4958059"/>
              <a:ext cx="341376" cy="305518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5" name="Connector 125"/>
            <p:cNvCxnSpPr/>
            <p:nvPr/>
          </p:nvCxnSpPr>
          <p:spPr>
            <a:xfrm>
              <a:off x="4413505" y="5263577"/>
              <a:ext cx="0" cy="276876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cxnSp>
          <p:nvCxnSpPr>
            <p:cNvPr id="126" name="Connector 126"/>
            <p:cNvCxnSpPr/>
            <p:nvPr/>
          </p:nvCxnSpPr>
          <p:spPr>
            <a:xfrm flipV="1">
              <a:off x="1938529" y="5960540"/>
              <a:ext cx="463296" cy="19095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7" name="Connector 127"/>
            <p:cNvCxnSpPr/>
            <p:nvPr/>
          </p:nvCxnSpPr>
          <p:spPr>
            <a:xfrm flipV="1">
              <a:off x="3194305" y="5903255"/>
              <a:ext cx="536448" cy="57285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8" name="Connector 128"/>
            <p:cNvCxnSpPr/>
            <p:nvPr/>
          </p:nvCxnSpPr>
          <p:spPr>
            <a:xfrm>
              <a:off x="4962145" y="5807781"/>
              <a:ext cx="329184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29" name="Connector 129"/>
            <p:cNvCxnSpPr/>
            <p:nvPr/>
          </p:nvCxnSpPr>
          <p:spPr>
            <a:xfrm>
              <a:off x="5998465" y="5807781"/>
              <a:ext cx="329184" cy="0"/>
            </a:xfrm>
            <a:prstGeom prst="line">
              <a:avLst/>
            </a:prstGeom>
            <a:ln w="15875">
              <a:solidFill>
                <a:srgbClr val="1A1A1A"/>
              </a:solidFill>
            </a:ln>
          </p:spPr>
        </p:cxnSp>
        <p:cxnSp>
          <p:nvCxnSpPr>
            <p:cNvPr id="130" name="Connector 130"/>
            <p:cNvCxnSpPr/>
            <p:nvPr/>
          </p:nvCxnSpPr>
          <p:spPr>
            <a:xfrm>
              <a:off x="6388609" y="3554585"/>
              <a:ext cx="0" cy="582394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cxnSp>
          <p:nvCxnSpPr>
            <p:cNvPr id="131" name="Connector 131"/>
            <p:cNvCxnSpPr/>
            <p:nvPr/>
          </p:nvCxnSpPr>
          <p:spPr>
            <a:xfrm>
              <a:off x="6388609" y="4748015"/>
              <a:ext cx="0" cy="792438"/>
            </a:xfrm>
            <a:prstGeom prst="line">
              <a:avLst/>
            </a:prstGeom>
            <a:ln w="15875">
              <a:solidFill>
                <a:srgbClr val="1A1A1A"/>
              </a:solidFill>
              <a:tailEnd type="triangle" w="med" len="med"/>
            </a:ln>
          </p:spPr>
        </p:cxnSp>
        <p:sp>
          <p:nvSpPr>
            <p:cNvPr id="132" name="BRANCH"/>
            <p:cNvSpPr/>
            <p:nvPr/>
          </p:nvSpPr>
          <p:spPr>
            <a:xfrm>
              <a:off x="1463041" y="1034061"/>
              <a:ext cx="1414272" cy="458277"/>
            </a:xfrm>
            <a:prstGeom prst="rect">
              <a:avLst/>
            </a:prstGeom>
            <a:solidFill>
              <a:srgbClr val="B7E0D2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</a:rPr>
                <a:t>BRANCH</a:t>
              </a:r>
            </a:p>
          </p:txBody>
        </p:sp>
        <p:sp>
          <p:nvSpPr>
            <p:cNvPr id="133" name="EMPLOYEE"/>
            <p:cNvSpPr/>
            <p:nvPr/>
          </p:nvSpPr>
          <p:spPr>
            <a:xfrm>
              <a:off x="4523233" y="1034061"/>
              <a:ext cx="1426464" cy="458277"/>
            </a:xfrm>
            <a:prstGeom prst="rect">
              <a:avLst/>
            </a:prstGeom>
            <a:solidFill>
              <a:srgbClr val="E0D9FF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</a:rPr>
                <a:t>EMPLOYEE</a:t>
              </a:r>
            </a:p>
          </p:txBody>
        </p:sp>
        <p:sp>
          <p:nvSpPr>
            <p:cNvPr id="134" name="CUSTOMER"/>
            <p:cNvSpPr/>
            <p:nvPr/>
          </p:nvSpPr>
          <p:spPr>
            <a:xfrm>
              <a:off x="10460737" y="1034061"/>
              <a:ext cx="1341120" cy="458277"/>
            </a:xfrm>
            <a:prstGeom prst="rect">
              <a:avLst/>
            </a:prstGeom>
            <a:solidFill>
              <a:srgbClr val="FFD0FF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</a:rPr>
                <a:t>CUSTOMER</a:t>
              </a:r>
            </a:p>
          </p:txBody>
        </p:sp>
        <p:sp>
          <p:nvSpPr>
            <p:cNvPr id="135" name="ACCOUNT_TYPE"/>
            <p:cNvSpPr/>
            <p:nvPr/>
          </p:nvSpPr>
          <p:spPr>
            <a:xfrm>
              <a:off x="85345" y="3077213"/>
              <a:ext cx="1231392" cy="467824"/>
            </a:xfrm>
            <a:prstGeom prst="rect">
              <a:avLst/>
            </a:prstGeom>
            <a:solidFill>
              <a:srgbClr val="F5EFBF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rgbClr val="1A1A1A"/>
                  </a:solidFill>
                </a:rPr>
                <a:t>ACCOUNT_TYPE</a:t>
              </a:r>
            </a:p>
          </p:txBody>
        </p:sp>
        <p:sp>
          <p:nvSpPr>
            <p:cNvPr id="136" name="ACCOUNT"/>
            <p:cNvSpPr/>
            <p:nvPr/>
          </p:nvSpPr>
          <p:spPr>
            <a:xfrm>
              <a:off x="2548129" y="3077213"/>
              <a:ext cx="1365504" cy="477372"/>
            </a:xfrm>
            <a:prstGeom prst="rect">
              <a:avLst/>
            </a:prstGeom>
            <a:solidFill>
              <a:srgbClr val="BADAEF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</a:rPr>
                <a:t>ACCOUNT</a:t>
              </a:r>
            </a:p>
          </p:txBody>
        </p:sp>
        <p:sp>
          <p:nvSpPr>
            <p:cNvPr id="137" name="TRANSACTION"/>
            <p:cNvSpPr/>
            <p:nvPr/>
          </p:nvSpPr>
          <p:spPr>
            <a:xfrm>
              <a:off x="5462017" y="3086760"/>
              <a:ext cx="1365504" cy="467824"/>
            </a:xfrm>
            <a:prstGeom prst="rect">
              <a:avLst/>
            </a:prstGeom>
            <a:solidFill>
              <a:srgbClr val="B7EFCA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</a:rPr>
                <a:t>TRANSACTION</a:t>
              </a:r>
            </a:p>
          </p:txBody>
        </p:sp>
        <p:sp>
          <p:nvSpPr>
            <p:cNvPr id="138" name="FUND_TRANSFER"/>
            <p:cNvSpPr/>
            <p:nvPr/>
          </p:nvSpPr>
          <p:spPr>
            <a:xfrm>
              <a:off x="8205217" y="3086760"/>
              <a:ext cx="1402080" cy="467824"/>
            </a:xfrm>
            <a:prstGeom prst="rect">
              <a:avLst/>
            </a:prstGeom>
            <a:solidFill>
              <a:srgbClr val="E3D6F2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1" dirty="0">
                  <a:solidFill>
                    <a:srgbClr val="1A1A1A"/>
                  </a:solidFill>
                </a:rPr>
                <a:t>FUND_TRANSFER</a:t>
              </a:r>
            </a:p>
          </p:txBody>
        </p:sp>
        <p:sp>
          <p:nvSpPr>
            <p:cNvPr id="139" name="ACCOUNT"/>
            <p:cNvSpPr/>
            <p:nvPr/>
          </p:nvSpPr>
          <p:spPr>
            <a:xfrm>
              <a:off x="10948417" y="2647578"/>
              <a:ext cx="1158240" cy="429634"/>
            </a:xfrm>
            <a:prstGeom prst="rect">
              <a:avLst/>
            </a:prstGeom>
            <a:solidFill>
              <a:srgbClr val="BDE1F7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</a:rPr>
                <a:t>ACCOUNT</a:t>
              </a:r>
            </a:p>
          </p:txBody>
        </p:sp>
        <p:sp>
          <p:nvSpPr>
            <p:cNvPr id="140" name="ACCOUNT"/>
            <p:cNvSpPr/>
            <p:nvPr/>
          </p:nvSpPr>
          <p:spPr>
            <a:xfrm>
              <a:off x="10948417" y="3506848"/>
              <a:ext cx="1158240" cy="429634"/>
            </a:xfrm>
            <a:prstGeom prst="rect">
              <a:avLst/>
            </a:prstGeom>
            <a:solidFill>
              <a:srgbClr val="BFDDF5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</a:rPr>
                <a:t>ACCOUNT</a:t>
              </a:r>
            </a:p>
          </p:txBody>
        </p:sp>
        <p:sp>
          <p:nvSpPr>
            <p:cNvPr id="141" name="CUSTOMER"/>
            <p:cNvSpPr/>
            <p:nvPr/>
          </p:nvSpPr>
          <p:spPr>
            <a:xfrm>
              <a:off x="1475233" y="4700278"/>
              <a:ext cx="1463040" cy="506014"/>
            </a:xfrm>
            <a:prstGeom prst="rect">
              <a:avLst/>
            </a:prstGeom>
            <a:solidFill>
              <a:srgbClr val="F9C8E6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</a:rPr>
                <a:t>CUSTOMER</a:t>
              </a:r>
            </a:p>
          </p:txBody>
        </p:sp>
        <p:sp>
          <p:nvSpPr>
            <p:cNvPr id="142" name="LOAN"/>
            <p:cNvSpPr/>
            <p:nvPr/>
          </p:nvSpPr>
          <p:spPr>
            <a:xfrm>
              <a:off x="3730753" y="5540453"/>
              <a:ext cx="1231392" cy="534656"/>
            </a:xfrm>
            <a:prstGeom prst="rect">
              <a:avLst/>
            </a:prstGeom>
            <a:solidFill>
              <a:srgbClr val="A8E2B2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</a:rPr>
                <a:t>LOAN</a:t>
              </a:r>
            </a:p>
          </p:txBody>
        </p:sp>
        <p:sp>
          <p:nvSpPr>
            <p:cNvPr id="143" name="LOAN_PAYMENT"/>
            <p:cNvSpPr/>
            <p:nvPr/>
          </p:nvSpPr>
          <p:spPr>
            <a:xfrm>
              <a:off x="6327649" y="5540453"/>
              <a:ext cx="1597152" cy="534656"/>
            </a:xfrm>
            <a:prstGeom prst="rect">
              <a:avLst/>
            </a:prstGeom>
            <a:solidFill>
              <a:srgbClr val="B1D1E8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</a:rPr>
                <a:t>LOAN_PAYMENT</a:t>
              </a:r>
            </a:p>
          </p:txBody>
        </p:sp>
        <p:sp>
          <p:nvSpPr>
            <p:cNvPr id="144" name="LOAN_TYPE"/>
            <p:cNvSpPr/>
            <p:nvPr/>
          </p:nvSpPr>
          <p:spPr>
            <a:xfrm>
              <a:off x="512065" y="5750496"/>
              <a:ext cx="1426464" cy="467824"/>
            </a:xfrm>
            <a:prstGeom prst="rect">
              <a:avLst/>
            </a:prstGeom>
            <a:solidFill>
              <a:srgbClr val="FDFAC5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</a:rPr>
                <a:t>LOAN_TYPE</a:t>
              </a:r>
            </a:p>
          </p:txBody>
        </p:sp>
        <p:sp>
          <p:nvSpPr>
            <p:cNvPr id="145" name="LOGIN"/>
            <p:cNvSpPr/>
            <p:nvPr/>
          </p:nvSpPr>
          <p:spPr>
            <a:xfrm>
              <a:off x="7583425" y="1014966"/>
              <a:ext cx="1255776" cy="515561"/>
            </a:xfrm>
            <a:prstGeom prst="rect">
              <a:avLst/>
            </a:prstGeom>
            <a:solidFill>
              <a:srgbClr val="FAF4D4"/>
            </a:solidFill>
            <a:ln w="44450" cmpd="dbl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200" b="1" dirty="0">
                  <a:solidFill>
                    <a:srgbClr val="1A1A1A"/>
                  </a:solidFill>
                </a:rPr>
                <a:t>LOGIN</a:t>
              </a:r>
            </a:p>
          </p:txBody>
        </p:sp>
        <p:sp>
          <p:nvSpPr>
            <p:cNvPr id="146" name="rel has"/>
            <p:cNvSpPr/>
            <p:nvPr/>
          </p:nvSpPr>
          <p:spPr>
            <a:xfrm>
              <a:off x="3340609" y="1024513"/>
              <a:ext cx="731520" cy="49646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 dirty="0">
                  <a:solidFill>
                    <a:srgbClr val="1A1A1A"/>
                  </a:solidFill>
                </a:rPr>
                <a:t>has</a:t>
              </a:r>
            </a:p>
          </p:txBody>
        </p:sp>
        <p:sp>
          <p:nvSpPr>
            <p:cNvPr id="147" name="rel uses"/>
            <p:cNvSpPr/>
            <p:nvPr/>
          </p:nvSpPr>
          <p:spPr>
            <a:xfrm>
              <a:off x="6376417" y="1024513"/>
              <a:ext cx="731520" cy="49646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 dirty="0">
                  <a:solidFill>
                    <a:srgbClr val="1A1A1A"/>
                  </a:solidFill>
                </a:rPr>
                <a:t>uses</a:t>
              </a:r>
            </a:p>
          </p:txBody>
        </p:sp>
        <p:sp>
          <p:nvSpPr>
            <p:cNvPr id="148" name="rel uses"/>
            <p:cNvSpPr/>
            <p:nvPr/>
          </p:nvSpPr>
          <p:spPr>
            <a:xfrm>
              <a:off x="9302497" y="1024513"/>
              <a:ext cx="731520" cy="49646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 dirty="0">
                  <a:solidFill>
                    <a:srgbClr val="1A1A1A"/>
                  </a:solidFill>
                </a:rPr>
                <a:t>uses</a:t>
              </a:r>
            </a:p>
          </p:txBody>
        </p:sp>
        <p:sp>
          <p:nvSpPr>
            <p:cNvPr id="149" name="rel maintains"/>
            <p:cNvSpPr/>
            <p:nvPr/>
          </p:nvSpPr>
          <p:spPr>
            <a:xfrm>
              <a:off x="1889761" y="1902878"/>
              <a:ext cx="829056" cy="649225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900" b="0" dirty="0">
                  <a:solidFill>
                    <a:srgbClr val="1A1A1A"/>
                  </a:solidFill>
                </a:rPr>
                <a:t>maintains</a:t>
              </a:r>
            </a:p>
          </p:txBody>
        </p:sp>
        <p:sp>
          <p:nvSpPr>
            <p:cNvPr id="150" name="rel belongs to"/>
            <p:cNvSpPr/>
            <p:nvPr/>
          </p:nvSpPr>
          <p:spPr>
            <a:xfrm>
              <a:off x="1511809" y="3048571"/>
              <a:ext cx="804672" cy="57284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900" b="0" dirty="0">
                  <a:solidFill>
                    <a:srgbClr val="1A1A1A"/>
                  </a:solidFill>
                </a:rPr>
                <a:t>belongs to</a:t>
              </a:r>
            </a:p>
          </p:txBody>
        </p:sp>
        <p:sp>
          <p:nvSpPr>
            <p:cNvPr id="151" name="rel has"/>
            <p:cNvSpPr/>
            <p:nvPr/>
          </p:nvSpPr>
          <p:spPr>
            <a:xfrm>
              <a:off x="4315969" y="3039023"/>
              <a:ext cx="731520" cy="57284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 dirty="0">
                  <a:solidFill>
                    <a:srgbClr val="1A1A1A"/>
                  </a:solidFill>
                </a:rPr>
                <a:t>has</a:t>
              </a:r>
            </a:p>
          </p:txBody>
        </p:sp>
        <p:sp>
          <p:nvSpPr>
            <p:cNvPr id="152" name="rel is a"/>
            <p:cNvSpPr/>
            <p:nvPr/>
          </p:nvSpPr>
          <p:spPr>
            <a:xfrm>
              <a:off x="7120129" y="3039023"/>
              <a:ext cx="731520" cy="57284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 dirty="0">
                  <a:solidFill>
                    <a:srgbClr val="1A1A1A"/>
                  </a:solidFill>
                </a:rPr>
                <a:t>is a</a:t>
              </a:r>
            </a:p>
          </p:txBody>
        </p:sp>
        <p:sp>
          <p:nvSpPr>
            <p:cNvPr id="153" name="rel owns"/>
            <p:cNvSpPr/>
            <p:nvPr/>
          </p:nvSpPr>
          <p:spPr>
            <a:xfrm>
              <a:off x="2791969" y="3850556"/>
              <a:ext cx="804672" cy="61103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 dirty="0">
                  <a:solidFill>
                    <a:srgbClr val="1A1A1A"/>
                  </a:solidFill>
                </a:rPr>
                <a:t>owns</a:t>
              </a:r>
            </a:p>
          </p:txBody>
        </p:sp>
        <p:sp>
          <p:nvSpPr>
            <p:cNvPr id="154" name="rel records"/>
            <p:cNvSpPr/>
            <p:nvPr/>
          </p:nvSpPr>
          <p:spPr>
            <a:xfrm>
              <a:off x="5974081" y="4136979"/>
              <a:ext cx="829056" cy="61103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900" b="0" dirty="0">
                  <a:solidFill>
                    <a:srgbClr val="1A1A1A"/>
                  </a:solidFill>
                </a:rPr>
                <a:t>records</a:t>
              </a:r>
            </a:p>
          </p:txBody>
        </p:sp>
        <p:sp>
          <p:nvSpPr>
            <p:cNvPr id="155" name="rel from"/>
            <p:cNvSpPr/>
            <p:nvPr/>
          </p:nvSpPr>
          <p:spPr>
            <a:xfrm>
              <a:off x="9863329" y="2609388"/>
              <a:ext cx="780288" cy="506014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 dirty="0">
                  <a:solidFill>
                    <a:srgbClr val="1A1A1A"/>
                  </a:solidFill>
                </a:rPr>
                <a:t>from</a:t>
              </a:r>
            </a:p>
          </p:txBody>
        </p:sp>
        <p:sp>
          <p:nvSpPr>
            <p:cNvPr id="156" name="rel to"/>
            <p:cNvSpPr/>
            <p:nvPr/>
          </p:nvSpPr>
          <p:spPr>
            <a:xfrm>
              <a:off x="9863329" y="3459111"/>
              <a:ext cx="780288" cy="506014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 dirty="0">
                  <a:solidFill>
                    <a:srgbClr val="1A1A1A"/>
                  </a:solidFill>
                </a:rPr>
                <a:t>to</a:t>
              </a:r>
            </a:p>
          </p:txBody>
        </p:sp>
        <p:sp>
          <p:nvSpPr>
            <p:cNvPr id="157" name="rel takes"/>
            <p:cNvSpPr/>
            <p:nvPr/>
          </p:nvSpPr>
          <p:spPr>
            <a:xfrm>
              <a:off x="3340609" y="4690730"/>
              <a:ext cx="731520" cy="544204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 dirty="0">
                  <a:solidFill>
                    <a:srgbClr val="1A1A1A"/>
                  </a:solidFill>
                </a:rPr>
                <a:t>takes</a:t>
              </a:r>
            </a:p>
          </p:txBody>
        </p:sp>
        <p:sp>
          <p:nvSpPr>
            <p:cNvPr id="158" name="rel has"/>
            <p:cNvSpPr/>
            <p:nvPr/>
          </p:nvSpPr>
          <p:spPr>
            <a:xfrm>
              <a:off x="5291329" y="5530905"/>
              <a:ext cx="707136" cy="544204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 dirty="0">
                  <a:solidFill>
                    <a:srgbClr val="1A1A1A"/>
                  </a:solidFill>
                </a:rPr>
                <a:t>has</a:t>
              </a:r>
            </a:p>
          </p:txBody>
        </p:sp>
        <p:sp>
          <p:nvSpPr>
            <p:cNvPr id="159" name="rel has"/>
            <p:cNvSpPr/>
            <p:nvPr/>
          </p:nvSpPr>
          <p:spPr>
            <a:xfrm>
              <a:off x="2401825" y="5674117"/>
              <a:ext cx="792480" cy="572846"/>
            </a:xfrm>
            <a:prstGeom prst="diamond">
              <a:avLst/>
            </a:prstGeom>
            <a:solidFill>
              <a:srgbClr val="FFD3DC"/>
            </a:solidFill>
            <a:ln w="19050">
              <a:solidFill>
                <a:srgbClr val="1A1A1A"/>
              </a:solidFill>
            </a:ln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000" b="0" dirty="0">
                  <a:solidFill>
                    <a:srgbClr val="1A1A1A"/>
                  </a:solidFill>
                </a:rPr>
                <a:t>has</a:t>
              </a:r>
            </a:p>
          </p:txBody>
        </p:sp>
        <p:sp>
          <p:nvSpPr>
            <p:cNvPr id="160" name="Cardinality 1"/>
            <p:cNvSpPr txBox="1"/>
            <p:nvPr/>
          </p:nvSpPr>
          <p:spPr>
            <a:xfrm>
              <a:off x="2828961" y="10286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61" name="Cardinality N"/>
            <p:cNvSpPr txBox="1"/>
            <p:nvPr/>
          </p:nvSpPr>
          <p:spPr>
            <a:xfrm>
              <a:off x="4011585" y="10286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62" name="Cardinality 1"/>
            <p:cNvSpPr txBox="1"/>
            <p:nvPr/>
          </p:nvSpPr>
          <p:spPr>
            <a:xfrm>
              <a:off x="5901345" y="10286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63" name="Cardinality 0.1"/>
            <p:cNvSpPr txBox="1"/>
            <p:nvPr/>
          </p:nvSpPr>
          <p:spPr>
            <a:xfrm>
              <a:off x="7035201" y="10286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0.1</a:t>
              </a:r>
            </a:p>
          </p:txBody>
        </p:sp>
        <p:sp>
          <p:nvSpPr>
            <p:cNvPr id="164" name="Cardinality 0.1"/>
            <p:cNvSpPr txBox="1"/>
            <p:nvPr/>
          </p:nvSpPr>
          <p:spPr>
            <a:xfrm>
              <a:off x="8827425" y="10286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0.1</a:t>
              </a:r>
            </a:p>
          </p:txBody>
        </p:sp>
        <p:sp>
          <p:nvSpPr>
            <p:cNvPr id="165" name="Cardinality 1"/>
            <p:cNvSpPr txBox="1"/>
            <p:nvPr/>
          </p:nvSpPr>
          <p:spPr>
            <a:xfrm>
              <a:off x="9912513" y="10286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66" name="Cardinality 1"/>
            <p:cNvSpPr txBox="1"/>
            <p:nvPr/>
          </p:nvSpPr>
          <p:spPr>
            <a:xfrm>
              <a:off x="2280321" y="1601476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67" name="Cardinality N"/>
            <p:cNvSpPr txBox="1"/>
            <p:nvPr/>
          </p:nvSpPr>
          <p:spPr>
            <a:xfrm>
              <a:off x="2292513" y="2623053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68" name="Cardinality 1"/>
            <p:cNvSpPr txBox="1"/>
            <p:nvPr/>
          </p:nvSpPr>
          <p:spPr>
            <a:xfrm>
              <a:off x="1183041" y="30813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69" name="Cardinality N"/>
            <p:cNvSpPr txBox="1"/>
            <p:nvPr/>
          </p:nvSpPr>
          <p:spPr>
            <a:xfrm>
              <a:off x="2097441" y="30813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70" name="Cardinality 1"/>
            <p:cNvSpPr txBox="1"/>
            <p:nvPr/>
          </p:nvSpPr>
          <p:spPr>
            <a:xfrm>
              <a:off x="3816513" y="30813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71" name="Cardinality N"/>
            <p:cNvSpPr txBox="1"/>
            <p:nvPr/>
          </p:nvSpPr>
          <p:spPr>
            <a:xfrm>
              <a:off x="4974753" y="30813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72" name="Cardinality 1"/>
            <p:cNvSpPr txBox="1"/>
            <p:nvPr/>
          </p:nvSpPr>
          <p:spPr>
            <a:xfrm>
              <a:off x="6718209" y="30813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73" name="Cardinality 0.1"/>
            <p:cNvSpPr txBox="1"/>
            <p:nvPr/>
          </p:nvSpPr>
          <p:spPr>
            <a:xfrm>
              <a:off x="7730145" y="3081330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0.1</a:t>
              </a:r>
            </a:p>
          </p:txBody>
        </p:sp>
        <p:sp>
          <p:nvSpPr>
            <p:cNvPr id="174" name="Cardinality N"/>
            <p:cNvSpPr txBox="1"/>
            <p:nvPr/>
          </p:nvSpPr>
          <p:spPr>
            <a:xfrm>
              <a:off x="9412641" y="2728074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75" name="Cardinality 1"/>
            <p:cNvSpPr txBox="1"/>
            <p:nvPr/>
          </p:nvSpPr>
          <p:spPr>
            <a:xfrm>
              <a:off x="10485537" y="2603958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76" name="Cardinality N"/>
            <p:cNvSpPr txBox="1"/>
            <p:nvPr/>
          </p:nvSpPr>
          <p:spPr>
            <a:xfrm>
              <a:off x="9363873" y="3587344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77" name="Cardinality 1"/>
            <p:cNvSpPr txBox="1"/>
            <p:nvPr/>
          </p:nvSpPr>
          <p:spPr>
            <a:xfrm>
              <a:off x="10485537" y="3463227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78" name="Cardinality N"/>
            <p:cNvSpPr txBox="1"/>
            <p:nvPr/>
          </p:nvSpPr>
          <p:spPr>
            <a:xfrm>
              <a:off x="3060609" y="3615986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79" name="Cardinality 1"/>
            <p:cNvSpPr txBox="1"/>
            <p:nvPr/>
          </p:nvSpPr>
          <p:spPr>
            <a:xfrm>
              <a:off x="2963073" y="4494351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80" name="Cardinality 1"/>
            <p:cNvSpPr txBox="1"/>
            <p:nvPr/>
          </p:nvSpPr>
          <p:spPr>
            <a:xfrm>
              <a:off x="6242721" y="3721008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81" name="Cardinality 0.1"/>
            <p:cNvSpPr txBox="1"/>
            <p:nvPr/>
          </p:nvSpPr>
          <p:spPr>
            <a:xfrm>
              <a:off x="6315873" y="4990818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0.1</a:t>
              </a:r>
            </a:p>
          </p:txBody>
        </p:sp>
        <p:sp>
          <p:nvSpPr>
            <p:cNvPr id="182" name="Cardinality 1"/>
            <p:cNvSpPr txBox="1"/>
            <p:nvPr/>
          </p:nvSpPr>
          <p:spPr>
            <a:xfrm>
              <a:off x="2853345" y="4752132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83" name="Cardinality N"/>
            <p:cNvSpPr txBox="1"/>
            <p:nvPr/>
          </p:nvSpPr>
          <p:spPr>
            <a:xfrm>
              <a:off x="3975009" y="4857154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84" name="Cardinality 1"/>
            <p:cNvSpPr txBox="1"/>
            <p:nvPr/>
          </p:nvSpPr>
          <p:spPr>
            <a:xfrm>
              <a:off x="1890177" y="5745066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85" name="Cardinality N"/>
            <p:cNvSpPr txBox="1"/>
            <p:nvPr/>
          </p:nvSpPr>
          <p:spPr>
            <a:xfrm>
              <a:off x="3182529" y="5735518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N</a:t>
              </a:r>
            </a:p>
          </p:txBody>
        </p:sp>
        <p:sp>
          <p:nvSpPr>
            <p:cNvPr id="186" name="Cardinality 1"/>
            <p:cNvSpPr txBox="1"/>
            <p:nvPr/>
          </p:nvSpPr>
          <p:spPr>
            <a:xfrm>
              <a:off x="4877217" y="5573212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1</a:t>
              </a:r>
            </a:p>
          </p:txBody>
        </p:sp>
        <p:sp>
          <p:nvSpPr>
            <p:cNvPr id="187" name="Cardinality N"/>
            <p:cNvSpPr txBox="1"/>
            <p:nvPr/>
          </p:nvSpPr>
          <p:spPr>
            <a:xfrm>
              <a:off x="5876961" y="5573212"/>
              <a:ext cx="560000" cy="24000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noAutofit/>
            </a:bodyPr>
            <a:lstStyle/>
            <a:p>
              <a:pPr algn="ctr"/>
              <a:r>
                <a:rPr lang="en-US" sz="1100" b="1" dirty="0">
                  <a:solidFill>
                    <a:srgbClr val="1A1A1A"/>
                  </a:solidFill>
                </a:rPr>
                <a:t>N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71ADB52-E2D6-C608-959B-5CCB6C840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3072" y="-65528"/>
            <a:ext cx="11353800" cy="644979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bg1"/>
                </a:solidFill>
              </a:rPr>
              <a:t>Entity-Relationship Diagram</a:t>
            </a:r>
          </a:p>
        </p:txBody>
      </p:sp>
    </p:spTree>
    <p:extLst>
      <p:ext uri="{BB962C8B-B14F-4D97-AF65-F5344CB8AC3E}">
        <p14:creationId xmlns:p14="http://schemas.microsoft.com/office/powerpoint/2010/main" val="1822673231"/>
      </p:ext>
    </p:extLst>
  </p:cSld>
  <p:clrMapOvr>
    <a:masterClrMapping/>
  </p:clrMapOvr>
  <p:transition spd="slow">
    <p:circl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chemeClr val="tx2">
                <a:lumMod val="75000"/>
                <a:lumOff val="2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8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3000" b="1" i="0" dirty="0">
                <a:solidFill>
                  <a:srgbClr val="FFFFFF"/>
                </a:solidFill>
              </a:rPr>
              <a:t>Part 1 — Core Banking (1/3)</a:t>
            </a:r>
          </a:p>
        </p:txBody>
      </p:sp>
      <p:sp>
        <p:nvSpPr>
          <p:cNvPr id="11" name="Purpose 11"/>
          <p:cNvSpPr/>
          <p:nvPr/>
        </p:nvSpPr>
        <p:spPr>
          <a:xfrm>
            <a:off x="548640" y="1188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300" b="1" i="0" dirty="0">
                <a:solidFill>
                  <a:srgbClr val="0E2841"/>
                </a:solidFill>
              </a:rPr>
              <a:t>Part Purpose:  </a:t>
            </a:r>
            <a:r>
              <a:rPr lang="en-US" sz="1300" b="0" i="0" dirty="0">
                <a:solidFill>
                  <a:srgbClr val="404040"/>
                </a:solidFill>
              </a:rPr>
              <a:t>Provides the foundational banking data: branches, customers, employees, account types and accounts.</a:t>
            </a:r>
          </a:p>
        </p:txBody>
      </p:sp>
      <p:sp>
        <p:nvSpPr>
          <p:cNvPr id="12" name="Card 12"/>
          <p:cNvSpPr/>
          <p:nvPr/>
        </p:nvSpPr>
        <p:spPr>
          <a:xfrm>
            <a:off x="548640" y="1920240"/>
            <a:ext cx="5408676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3" name="Header 13"/>
          <p:cNvSpPr txBox="1"/>
          <p:nvPr/>
        </p:nvSpPr>
        <p:spPr>
          <a:xfrm>
            <a:off x="685800" y="2011680"/>
            <a:ext cx="5134356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100" b="1" i="0" dirty="0">
                <a:solidFill>
                  <a:srgbClr val="0E2841"/>
                </a:solidFill>
              </a:rPr>
              <a:t>BRANCH</a:t>
            </a:r>
          </a:p>
          <a:p>
            <a:pPr algn="l">
              <a:spcBef>
                <a:spcPts val="300"/>
              </a:spcBef>
            </a:pPr>
            <a:r>
              <a:rPr lang="en-US" sz="1300" b="0" i="1" dirty="0">
                <a:solidFill>
                  <a:srgbClr val="595959"/>
                </a:solidFill>
                <a:highlight>
                  <a:srgbClr val="FFFF00"/>
                </a:highlight>
              </a:rPr>
              <a:t>Stores branch identity, location, contact and manager information</a:t>
            </a:r>
            <a:r>
              <a:rPr lang="en-US" sz="1300" b="0" i="1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4" name="Rows 14"/>
          <p:cNvSpPr txBox="1"/>
          <p:nvPr/>
        </p:nvSpPr>
        <p:spPr>
          <a:xfrm>
            <a:off x="685800" y="2926080"/>
            <a:ext cx="513435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IFSC</a:t>
            </a:r>
            <a:r>
              <a:rPr lang="en-US" sz="1300" b="1" i="0" dirty="0">
                <a:solidFill>
                  <a:srgbClr val="C2410C"/>
                </a:solidFill>
              </a:rPr>
              <a:t> [PK]</a:t>
            </a:r>
            <a:r>
              <a:rPr lang="en-US" sz="1500" b="0" i="0" dirty="0">
                <a:solidFill>
                  <a:srgbClr val="404040"/>
                </a:solidFill>
              </a:rPr>
              <a:t> — uniquely identifies branch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Branch_Name</a:t>
            </a:r>
            <a:r>
              <a:rPr lang="en-US" sz="1500" b="0" i="0" dirty="0">
                <a:solidFill>
                  <a:srgbClr val="404040"/>
                </a:solidFill>
              </a:rPr>
              <a:t> — branch name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MICR</a:t>
            </a:r>
            <a:r>
              <a:rPr lang="en-US" sz="1300" b="1" i="0" dirty="0">
                <a:solidFill>
                  <a:srgbClr val="C2410C"/>
                </a:solidFill>
              </a:rPr>
              <a:t> [UNIQUE]</a:t>
            </a:r>
            <a:r>
              <a:rPr lang="en-US" sz="1500" b="0" i="0" dirty="0">
                <a:solidFill>
                  <a:srgbClr val="404040"/>
                </a:solidFill>
              </a:rPr>
              <a:t> — unique banking code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Address, City, State, PIN</a:t>
            </a:r>
            <a:r>
              <a:rPr lang="en-US" sz="1500" b="0" i="0" dirty="0">
                <a:solidFill>
                  <a:srgbClr val="404040"/>
                </a:solidFill>
              </a:rPr>
              <a:t> — location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Contact</a:t>
            </a:r>
            <a:r>
              <a:rPr lang="en-US" sz="1500" b="0" i="0" dirty="0">
                <a:solidFill>
                  <a:srgbClr val="404040"/>
                </a:solidFill>
              </a:rPr>
              <a:t> — branch contact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Manager_ID</a:t>
            </a:r>
            <a:r>
              <a:rPr lang="en-US" sz="1300" b="1" i="0" dirty="0">
                <a:solidFill>
                  <a:srgbClr val="C2410C"/>
                </a:solidFill>
              </a:rPr>
              <a:t> [FK]</a:t>
            </a:r>
            <a:r>
              <a:rPr lang="en-US" sz="1500" b="0" i="0" dirty="0">
                <a:solidFill>
                  <a:srgbClr val="404040"/>
                </a:solidFill>
              </a:rPr>
              <a:t> — branch manager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Opening_Date</a:t>
            </a:r>
            <a:r>
              <a:rPr lang="en-US" sz="1500" b="0" i="0" dirty="0">
                <a:solidFill>
                  <a:srgbClr val="404040"/>
                </a:solidFill>
              </a:rPr>
              <a:t> — opening date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Status</a:t>
            </a:r>
            <a:r>
              <a:rPr lang="en-US" sz="1500" b="0" i="0" dirty="0">
                <a:solidFill>
                  <a:srgbClr val="404040"/>
                </a:solidFill>
              </a:rPr>
              <a:t> — Active/Inactive</a:t>
            </a:r>
          </a:p>
        </p:txBody>
      </p:sp>
      <p:sp>
        <p:nvSpPr>
          <p:cNvPr id="15" name="Card 15"/>
          <p:cNvSpPr/>
          <p:nvPr/>
        </p:nvSpPr>
        <p:spPr>
          <a:xfrm>
            <a:off x="6234379" y="1920240"/>
            <a:ext cx="5408676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6" name="Header 16"/>
          <p:cNvSpPr txBox="1"/>
          <p:nvPr/>
        </p:nvSpPr>
        <p:spPr>
          <a:xfrm>
            <a:off x="6371539" y="2011680"/>
            <a:ext cx="5134356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100" b="1" i="0" dirty="0">
                <a:solidFill>
                  <a:srgbClr val="0E2841"/>
                </a:solidFill>
              </a:rPr>
              <a:t>CUSTOMER</a:t>
            </a:r>
          </a:p>
          <a:p>
            <a:pPr algn="l">
              <a:spcBef>
                <a:spcPts val="300"/>
              </a:spcBef>
            </a:pPr>
            <a:r>
              <a:rPr lang="en-US" sz="1300" b="0" i="1" dirty="0">
                <a:solidFill>
                  <a:srgbClr val="595959"/>
                </a:solidFill>
                <a:highlight>
                  <a:srgbClr val="FFFF00"/>
                </a:highlight>
              </a:rPr>
              <a:t>Stores customer identity, personal information and contact details</a:t>
            </a:r>
            <a:r>
              <a:rPr lang="en-US" sz="1300" b="0" i="1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7" name="Rows 17"/>
          <p:cNvSpPr txBox="1"/>
          <p:nvPr/>
        </p:nvSpPr>
        <p:spPr>
          <a:xfrm>
            <a:off x="6371539" y="2926080"/>
            <a:ext cx="513435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CIF</a:t>
            </a:r>
            <a:r>
              <a:rPr lang="en-US" sz="1300" b="1" i="0" dirty="0">
                <a:solidFill>
                  <a:srgbClr val="C2410C"/>
                </a:solidFill>
              </a:rPr>
              <a:t> [PK]</a:t>
            </a:r>
            <a:r>
              <a:rPr lang="en-US" sz="1500" b="0" i="0" dirty="0">
                <a:solidFill>
                  <a:srgbClr val="404040"/>
                </a:solidFill>
              </a:rPr>
              <a:t> — uniquely identifies customer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First_Name, Last_Name</a:t>
            </a:r>
            <a:r>
              <a:rPr lang="en-US" sz="1500" b="0" i="0" dirty="0">
                <a:solidFill>
                  <a:srgbClr val="404040"/>
                </a:solidFill>
              </a:rPr>
              <a:t> — customer name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DOB, Gender</a:t>
            </a:r>
            <a:r>
              <a:rPr lang="en-US" sz="1500" b="0" i="0" dirty="0">
                <a:solidFill>
                  <a:srgbClr val="404040"/>
                </a:solidFill>
              </a:rPr>
              <a:t> — personal details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Contact, Address</a:t>
            </a:r>
            <a:r>
              <a:rPr lang="en-US" sz="1500" b="0" i="0" dirty="0">
                <a:solidFill>
                  <a:srgbClr val="404040"/>
                </a:solidFill>
              </a:rPr>
              <a:t> — contact details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PAN, Aadhaar_No</a:t>
            </a:r>
            <a:r>
              <a:rPr lang="en-US" sz="1300" b="1" i="0" dirty="0">
                <a:solidFill>
                  <a:srgbClr val="C2410C"/>
                </a:solidFill>
              </a:rPr>
              <a:t> [UNIQUE]</a:t>
            </a:r>
            <a:r>
              <a:rPr lang="en-US" sz="1500" b="0" i="0" dirty="0">
                <a:solidFill>
                  <a:srgbClr val="404040"/>
                </a:solidFill>
              </a:rPr>
              <a:t> — identity details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Status</a:t>
            </a:r>
            <a:r>
              <a:rPr lang="en-US" sz="1500" b="0" i="0" dirty="0">
                <a:solidFill>
                  <a:srgbClr val="404040"/>
                </a:solidFill>
              </a:rPr>
              <a:t> — Active/Inactive</a:t>
            </a:r>
          </a:p>
        </p:txBody>
      </p:sp>
    </p:spTree>
  </p:cSld>
  <p:clrMapOvr>
    <a:masterClrMapping/>
  </p:clrMapOvr>
  <p:transition spd="slow">
    <p:circl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chemeClr val="tx2">
                <a:lumMod val="75000"/>
                <a:lumOff val="2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8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3000" b="1" i="0" dirty="0">
                <a:solidFill>
                  <a:srgbClr val="FFFFFF"/>
                </a:solidFill>
              </a:rPr>
              <a:t>Part 1 — Core Banking (2/3)</a:t>
            </a:r>
          </a:p>
        </p:txBody>
      </p:sp>
      <p:sp>
        <p:nvSpPr>
          <p:cNvPr id="11" name="Purpose 11"/>
          <p:cNvSpPr/>
          <p:nvPr/>
        </p:nvSpPr>
        <p:spPr>
          <a:xfrm>
            <a:off x="548640" y="1188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300" b="1" i="0" dirty="0">
                <a:solidFill>
                  <a:srgbClr val="0E2841"/>
                </a:solidFill>
              </a:rPr>
              <a:t>Part Purpose:  </a:t>
            </a:r>
            <a:r>
              <a:rPr lang="en-US" sz="1300" b="0" i="0" dirty="0">
                <a:solidFill>
                  <a:srgbClr val="404040"/>
                </a:solidFill>
              </a:rPr>
              <a:t>Provides the foundational banking data: branches, customers, employees, account types and accounts.</a:t>
            </a:r>
          </a:p>
        </p:txBody>
      </p:sp>
      <p:sp>
        <p:nvSpPr>
          <p:cNvPr id="12" name="Card 12"/>
          <p:cNvSpPr/>
          <p:nvPr/>
        </p:nvSpPr>
        <p:spPr>
          <a:xfrm>
            <a:off x="548640" y="1920240"/>
            <a:ext cx="5408676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3" name="Header 13"/>
          <p:cNvSpPr txBox="1"/>
          <p:nvPr/>
        </p:nvSpPr>
        <p:spPr>
          <a:xfrm>
            <a:off x="685800" y="2011680"/>
            <a:ext cx="5134356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100" b="1" i="0" dirty="0">
                <a:solidFill>
                  <a:srgbClr val="0E2841"/>
                </a:solidFill>
              </a:rPr>
              <a:t>EMPLOYEE</a:t>
            </a:r>
          </a:p>
          <a:p>
            <a:pPr algn="l">
              <a:spcBef>
                <a:spcPts val="300"/>
              </a:spcBef>
            </a:pPr>
            <a:r>
              <a:rPr lang="en-US" sz="1300" b="0" i="1" dirty="0">
                <a:solidFill>
                  <a:srgbClr val="595959"/>
                </a:solidFill>
                <a:highlight>
                  <a:srgbClr val="FFFF00"/>
                </a:highlight>
              </a:rPr>
              <a:t>Stores bank employee information and their branch/role assignment</a:t>
            </a:r>
            <a:r>
              <a:rPr lang="en-US" sz="1300" b="0" i="1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4" name="Rows 14"/>
          <p:cNvSpPr txBox="1"/>
          <p:nvPr/>
        </p:nvSpPr>
        <p:spPr>
          <a:xfrm>
            <a:off x="685800" y="2926080"/>
            <a:ext cx="513435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Employee_ID</a:t>
            </a:r>
            <a:r>
              <a:rPr lang="en-US" sz="1300" b="1" i="0" dirty="0">
                <a:solidFill>
                  <a:srgbClr val="C2410C"/>
                </a:solidFill>
              </a:rPr>
              <a:t> [PK]</a:t>
            </a:r>
            <a:r>
              <a:rPr lang="en-US" sz="1500" b="0" i="0" dirty="0">
                <a:solidFill>
                  <a:srgbClr val="404040"/>
                </a:solidFill>
              </a:rPr>
              <a:t> — uniquely identifies employee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IFSC</a:t>
            </a:r>
            <a:r>
              <a:rPr lang="en-US" sz="1300" b="1" i="0" dirty="0">
                <a:solidFill>
                  <a:srgbClr val="C2410C"/>
                </a:solidFill>
              </a:rPr>
              <a:t> [FK]</a:t>
            </a:r>
            <a:r>
              <a:rPr lang="en-US" sz="1500" b="0" i="0" dirty="0">
                <a:solidFill>
                  <a:srgbClr val="404040"/>
                </a:solidFill>
              </a:rPr>
              <a:t> — branch assignment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First_Name, Last_Name, DOB, Gender</a:t>
            </a:r>
            <a:r>
              <a:rPr lang="en-US" sz="1500" b="0" i="0" dirty="0">
                <a:solidFill>
                  <a:srgbClr val="404040"/>
                </a:solidFill>
              </a:rPr>
              <a:t> — personal details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Contact, Address</a:t>
            </a:r>
            <a:r>
              <a:rPr lang="en-US" sz="1500" b="0" i="0" dirty="0">
                <a:solidFill>
                  <a:srgbClr val="404040"/>
                </a:solidFill>
              </a:rPr>
              <a:t> — contact details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Joining_Date</a:t>
            </a:r>
            <a:r>
              <a:rPr lang="en-US" sz="1500" b="0" i="0" dirty="0">
                <a:solidFill>
                  <a:srgbClr val="404040"/>
                </a:solidFill>
              </a:rPr>
              <a:t> — joining information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Role</a:t>
            </a:r>
            <a:r>
              <a:rPr lang="en-US" sz="1500" b="0" i="0" dirty="0">
                <a:solidFill>
                  <a:srgbClr val="404040"/>
                </a:solidFill>
              </a:rPr>
              <a:t> — Employee/Manager/Admin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Salary</a:t>
            </a:r>
            <a:r>
              <a:rPr lang="en-US" sz="1500" b="0" i="0" dirty="0">
                <a:solidFill>
                  <a:srgbClr val="404040"/>
                </a:solidFill>
              </a:rPr>
              <a:t> — salary information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Status</a:t>
            </a:r>
            <a:r>
              <a:rPr lang="en-US" sz="1500" b="0" i="0" dirty="0">
                <a:solidFill>
                  <a:srgbClr val="404040"/>
                </a:solidFill>
              </a:rPr>
              <a:t> — Active/Inactive</a:t>
            </a:r>
          </a:p>
        </p:txBody>
      </p:sp>
      <p:sp>
        <p:nvSpPr>
          <p:cNvPr id="15" name="Card 15"/>
          <p:cNvSpPr/>
          <p:nvPr/>
        </p:nvSpPr>
        <p:spPr>
          <a:xfrm>
            <a:off x="6234379" y="1920240"/>
            <a:ext cx="5408676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6" name="Header 16"/>
          <p:cNvSpPr txBox="1"/>
          <p:nvPr/>
        </p:nvSpPr>
        <p:spPr>
          <a:xfrm>
            <a:off x="6371539" y="2011680"/>
            <a:ext cx="5134356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100" b="1" i="0" dirty="0">
                <a:solidFill>
                  <a:srgbClr val="0E2841"/>
                </a:solidFill>
              </a:rPr>
              <a:t>ACCOUNT_TYPE</a:t>
            </a:r>
          </a:p>
          <a:p>
            <a:pPr algn="l">
              <a:spcBef>
                <a:spcPts val="300"/>
              </a:spcBef>
            </a:pPr>
            <a:r>
              <a:rPr lang="en-US" sz="1300" b="0" i="1" dirty="0">
                <a:solidFill>
                  <a:srgbClr val="595959"/>
                </a:solidFill>
                <a:highlight>
                  <a:srgbClr val="FFFF00"/>
                </a:highlight>
              </a:rPr>
              <a:t>Defines the characteristics and operating rules of an account type</a:t>
            </a:r>
            <a:r>
              <a:rPr lang="en-US" sz="1300" b="0" i="1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7" name="Rows 17"/>
          <p:cNvSpPr txBox="1"/>
          <p:nvPr/>
        </p:nvSpPr>
        <p:spPr>
          <a:xfrm>
            <a:off x="6371539" y="2926080"/>
            <a:ext cx="513435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Account_Type_ID</a:t>
            </a:r>
            <a:r>
              <a:rPr lang="en-US" sz="1300" b="1" i="0" dirty="0">
                <a:solidFill>
                  <a:srgbClr val="C2410C"/>
                </a:solidFill>
              </a:rPr>
              <a:t> [PK]</a:t>
            </a:r>
            <a:r>
              <a:rPr lang="en-US" sz="1500" b="0" i="0" dirty="0">
                <a:solidFill>
                  <a:srgbClr val="404040"/>
                </a:solidFill>
              </a:rPr>
              <a:t> — identifies account type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Type_Name</a:t>
            </a:r>
            <a:r>
              <a:rPr lang="en-US" sz="1300" b="1" i="0" dirty="0">
                <a:solidFill>
                  <a:srgbClr val="C2410C"/>
                </a:solidFill>
              </a:rPr>
              <a:t> [UNIQUE]</a:t>
            </a:r>
            <a:r>
              <a:rPr lang="en-US" sz="1500" b="0" i="0" dirty="0">
                <a:solidFill>
                  <a:srgbClr val="404040"/>
                </a:solidFill>
              </a:rPr>
              <a:t> — unique type name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Minimum_Balance</a:t>
            </a:r>
            <a:r>
              <a:rPr lang="en-US" sz="1500" b="0" i="0" dirty="0">
                <a:solidFill>
                  <a:srgbClr val="404040"/>
                </a:solidFill>
              </a:rPr>
              <a:t> — minimum required balance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Interest_Rate</a:t>
            </a:r>
            <a:r>
              <a:rPr lang="en-US" sz="1500" b="0" i="0" dirty="0">
                <a:solidFill>
                  <a:srgbClr val="404040"/>
                </a:solidFill>
              </a:rPr>
              <a:t> — applicable rate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Transaction_Limit</a:t>
            </a:r>
            <a:r>
              <a:rPr lang="en-US" sz="1500" b="0" i="0" dirty="0">
                <a:solidFill>
                  <a:srgbClr val="404040"/>
                </a:solidFill>
              </a:rPr>
              <a:t> — transaction limit</a:t>
            </a:r>
          </a:p>
        </p:txBody>
      </p:sp>
    </p:spTree>
  </p:cSld>
  <p:clrMapOvr>
    <a:masterClrMapping/>
  </p:clrMapOvr>
  <p:transition spd="slow">
    <p:circl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chemeClr val="tx2">
                <a:lumMod val="75000"/>
                <a:lumOff val="2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8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3000" b="1" i="0" dirty="0">
                <a:solidFill>
                  <a:srgbClr val="FFFFFF"/>
                </a:solidFill>
              </a:rPr>
              <a:t>Part 1 — Core Banking (3/3)</a:t>
            </a:r>
          </a:p>
        </p:txBody>
      </p:sp>
      <p:sp>
        <p:nvSpPr>
          <p:cNvPr id="11" name="Purpose 11"/>
          <p:cNvSpPr/>
          <p:nvPr/>
        </p:nvSpPr>
        <p:spPr>
          <a:xfrm>
            <a:off x="548640" y="1188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300" b="1" i="0" dirty="0">
                <a:solidFill>
                  <a:srgbClr val="0E2841"/>
                </a:solidFill>
              </a:rPr>
              <a:t>Part Purpose:  </a:t>
            </a:r>
            <a:r>
              <a:rPr lang="en-US" sz="1300" b="0" i="0" dirty="0">
                <a:solidFill>
                  <a:srgbClr val="404040"/>
                </a:solidFill>
              </a:rPr>
              <a:t>Provides the foundational banking data: branches, customers, employees, account types and accounts.</a:t>
            </a:r>
          </a:p>
        </p:txBody>
      </p:sp>
      <p:sp>
        <p:nvSpPr>
          <p:cNvPr id="12" name="Card 12"/>
          <p:cNvSpPr/>
          <p:nvPr/>
        </p:nvSpPr>
        <p:spPr>
          <a:xfrm>
            <a:off x="548640" y="1920240"/>
            <a:ext cx="11091672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3" name="Header 13"/>
          <p:cNvSpPr txBox="1"/>
          <p:nvPr/>
        </p:nvSpPr>
        <p:spPr>
          <a:xfrm>
            <a:off x="685800" y="2011680"/>
            <a:ext cx="10817352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100" b="1" i="0" dirty="0">
                <a:solidFill>
                  <a:srgbClr val="0E2841"/>
                </a:solidFill>
              </a:rPr>
              <a:t>ACCOUNT</a:t>
            </a:r>
          </a:p>
          <a:p>
            <a:pPr algn="l">
              <a:spcBef>
                <a:spcPts val="300"/>
              </a:spcBef>
            </a:pPr>
            <a:r>
              <a:rPr lang="en-US" sz="1300" b="0" i="1" dirty="0">
                <a:solidFill>
                  <a:srgbClr val="595959"/>
                </a:solidFill>
                <a:highlight>
                  <a:srgbClr val="FFFF00"/>
                </a:highlight>
              </a:rPr>
              <a:t>Stores individual customer bank accounts and their current status and balance</a:t>
            </a:r>
            <a:r>
              <a:rPr lang="en-US" sz="1300" b="0" i="1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4" name="Rows 14"/>
          <p:cNvSpPr txBox="1"/>
          <p:nvPr/>
        </p:nvSpPr>
        <p:spPr>
          <a:xfrm>
            <a:off x="685800" y="2926080"/>
            <a:ext cx="540867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Account_No</a:t>
            </a:r>
            <a:r>
              <a:rPr lang="en-US" sz="1500" b="1" i="0" dirty="0">
                <a:solidFill>
                  <a:srgbClr val="C2410C"/>
                </a:solidFill>
              </a:rPr>
              <a:t> [PK]</a:t>
            </a:r>
            <a:r>
              <a:rPr lang="en-US" sz="1700" b="0" i="0" dirty="0">
                <a:solidFill>
                  <a:srgbClr val="404040"/>
                </a:solidFill>
              </a:rPr>
              <a:t> — uniquely identifies account</a:t>
            </a:r>
          </a:p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CIF</a:t>
            </a:r>
            <a:r>
              <a:rPr lang="en-US" sz="1500" b="1" i="0" dirty="0">
                <a:solidFill>
                  <a:srgbClr val="C2410C"/>
                </a:solidFill>
              </a:rPr>
              <a:t> [FK]</a:t>
            </a:r>
            <a:r>
              <a:rPr lang="en-US" sz="1700" b="0" i="0" dirty="0">
                <a:solidFill>
                  <a:srgbClr val="404040"/>
                </a:solidFill>
              </a:rPr>
              <a:t> — customer link</a:t>
            </a:r>
          </a:p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IFSC</a:t>
            </a:r>
            <a:r>
              <a:rPr lang="en-US" sz="1500" b="1" i="0" dirty="0">
                <a:solidFill>
                  <a:srgbClr val="C2410C"/>
                </a:solidFill>
              </a:rPr>
              <a:t> [FK]</a:t>
            </a:r>
            <a:r>
              <a:rPr lang="en-US" sz="1700" b="0" i="0" dirty="0">
                <a:solidFill>
                  <a:srgbClr val="404040"/>
                </a:solidFill>
              </a:rPr>
              <a:t> — branch link</a:t>
            </a:r>
          </a:p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Nominee</a:t>
            </a:r>
            <a:r>
              <a:rPr lang="en-US" sz="1700" b="0" i="0" dirty="0">
                <a:solidFill>
                  <a:srgbClr val="404040"/>
                </a:solidFill>
              </a:rPr>
              <a:t> — nominee information</a:t>
            </a:r>
          </a:p>
        </p:txBody>
      </p:sp>
      <p:sp>
        <p:nvSpPr>
          <p:cNvPr id="15" name="Rows 15"/>
          <p:cNvSpPr txBox="1"/>
          <p:nvPr/>
        </p:nvSpPr>
        <p:spPr>
          <a:xfrm>
            <a:off x="6094476" y="2926080"/>
            <a:ext cx="540867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Account_Type_ID</a:t>
            </a:r>
            <a:r>
              <a:rPr lang="en-US" sz="1500" b="1" i="0" dirty="0">
                <a:solidFill>
                  <a:srgbClr val="C2410C"/>
                </a:solidFill>
              </a:rPr>
              <a:t> [FK]</a:t>
            </a:r>
            <a:r>
              <a:rPr lang="en-US" sz="1700" b="0" i="0" dirty="0">
                <a:solidFill>
                  <a:srgbClr val="404040"/>
                </a:solidFill>
              </a:rPr>
              <a:t> — account type link</a:t>
            </a:r>
          </a:p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Opening_Date</a:t>
            </a:r>
            <a:r>
              <a:rPr lang="en-US" sz="1700" b="0" i="0" dirty="0">
                <a:solidFill>
                  <a:srgbClr val="404040"/>
                </a:solidFill>
              </a:rPr>
              <a:t> — opening date</a:t>
            </a:r>
          </a:p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Status</a:t>
            </a:r>
            <a:r>
              <a:rPr lang="en-US" sz="1700" b="0" i="0" dirty="0">
                <a:solidFill>
                  <a:srgbClr val="404040"/>
                </a:solidFill>
              </a:rPr>
              <a:t> — Active/Frozen/Closed</a:t>
            </a:r>
          </a:p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Current_Balance</a:t>
            </a:r>
            <a:r>
              <a:rPr lang="en-US" sz="1700" b="0" i="0" dirty="0">
                <a:solidFill>
                  <a:srgbClr val="404040"/>
                </a:solidFill>
              </a:rPr>
              <a:t> — current balance</a:t>
            </a:r>
          </a:p>
        </p:txBody>
      </p:sp>
    </p:spTree>
  </p:cSld>
  <p:clrMapOvr>
    <a:masterClrMapping/>
  </p:clrMapOvr>
  <p:transition spd="slow">
    <p:circl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chemeClr val="tx2">
                <a:lumMod val="75000"/>
                <a:lumOff val="2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8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3000" b="1" i="0" dirty="0">
                <a:solidFill>
                  <a:srgbClr val="FFFFFF"/>
                </a:solidFill>
              </a:rPr>
              <a:t>Part 2 — Transaction &amp; Fund Transfer</a:t>
            </a:r>
          </a:p>
        </p:txBody>
      </p:sp>
      <p:sp>
        <p:nvSpPr>
          <p:cNvPr id="11" name="Purpose 11"/>
          <p:cNvSpPr/>
          <p:nvPr/>
        </p:nvSpPr>
        <p:spPr>
          <a:xfrm>
            <a:off x="548640" y="1188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300" b="1" i="0" dirty="0">
                <a:solidFill>
                  <a:srgbClr val="0E2841"/>
                </a:solidFill>
              </a:rPr>
              <a:t>Part Purpose:  </a:t>
            </a:r>
            <a:r>
              <a:rPr lang="en-US" sz="1300" b="0" i="0" dirty="0">
                <a:solidFill>
                  <a:srgbClr val="404040"/>
                </a:solidFill>
              </a:rPr>
              <a:t>Records financial activities and manages transfers of money between accounts.</a:t>
            </a:r>
          </a:p>
        </p:txBody>
      </p:sp>
      <p:sp>
        <p:nvSpPr>
          <p:cNvPr id="12" name="Card 12"/>
          <p:cNvSpPr/>
          <p:nvPr/>
        </p:nvSpPr>
        <p:spPr>
          <a:xfrm>
            <a:off x="548640" y="1920240"/>
            <a:ext cx="5408676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3" name="Header 13"/>
          <p:cNvSpPr txBox="1"/>
          <p:nvPr/>
        </p:nvSpPr>
        <p:spPr>
          <a:xfrm>
            <a:off x="685800" y="2011680"/>
            <a:ext cx="5134356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100" b="1" i="0" dirty="0">
                <a:solidFill>
                  <a:srgbClr val="0E2841"/>
                </a:solidFill>
              </a:rPr>
              <a:t>TRANSACTION</a:t>
            </a:r>
          </a:p>
          <a:p>
            <a:pPr algn="l">
              <a:spcBef>
                <a:spcPts val="300"/>
              </a:spcBef>
            </a:pPr>
            <a:r>
              <a:rPr lang="en-US" sz="1300" b="0" i="1" dirty="0">
                <a:solidFill>
                  <a:srgbClr val="595959"/>
                </a:solidFill>
                <a:highlight>
                  <a:srgbClr val="FFFF00"/>
                </a:highlight>
              </a:rPr>
              <a:t>Records financial activity performed on or for a bank account.</a:t>
            </a:r>
          </a:p>
        </p:txBody>
      </p:sp>
      <p:sp>
        <p:nvSpPr>
          <p:cNvPr id="14" name="Rows 14"/>
          <p:cNvSpPr txBox="1"/>
          <p:nvPr/>
        </p:nvSpPr>
        <p:spPr>
          <a:xfrm>
            <a:off x="685800" y="2926080"/>
            <a:ext cx="513435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1000"/>
              </a:spcBef>
            </a:pPr>
            <a:r>
              <a:rPr lang="en-US" sz="1350" b="1" i="0" dirty="0">
                <a:solidFill>
                  <a:srgbClr val="156082"/>
                </a:solidFill>
              </a:rPr>
              <a:t>Transaction_ID</a:t>
            </a:r>
            <a:r>
              <a:rPr lang="en-US" sz="1150" b="1" i="0" dirty="0">
                <a:solidFill>
                  <a:srgbClr val="C2410C"/>
                </a:solidFill>
              </a:rPr>
              <a:t> [PK]</a:t>
            </a:r>
            <a:r>
              <a:rPr lang="en-US" sz="1350" b="0" i="0" dirty="0">
                <a:solidFill>
                  <a:srgbClr val="404040"/>
                </a:solidFill>
              </a:rPr>
              <a:t> — uniquely identifies transaction</a:t>
            </a:r>
          </a:p>
          <a:p>
            <a:pPr algn="l">
              <a:spcBef>
                <a:spcPts val="1000"/>
              </a:spcBef>
            </a:pPr>
            <a:r>
              <a:rPr lang="en-US" sz="1350" b="1" i="0" dirty="0">
                <a:solidFill>
                  <a:srgbClr val="156082"/>
                </a:solidFill>
              </a:rPr>
              <a:t>Account_No</a:t>
            </a:r>
            <a:r>
              <a:rPr lang="en-US" sz="1150" b="1" i="0" dirty="0">
                <a:solidFill>
                  <a:srgbClr val="C2410C"/>
                </a:solidFill>
              </a:rPr>
              <a:t> [FK]</a:t>
            </a:r>
            <a:r>
              <a:rPr lang="en-US" sz="1350" b="0" i="0" dirty="0">
                <a:solidFill>
                  <a:srgbClr val="404040"/>
                </a:solidFill>
              </a:rPr>
              <a:t> — account involved</a:t>
            </a:r>
          </a:p>
          <a:p>
            <a:pPr algn="l">
              <a:spcBef>
                <a:spcPts val="1000"/>
              </a:spcBef>
            </a:pPr>
            <a:r>
              <a:rPr lang="en-US" sz="1350" b="1" i="0" dirty="0">
                <a:solidFill>
                  <a:srgbClr val="156082"/>
                </a:solidFill>
              </a:rPr>
              <a:t>Employee_ID</a:t>
            </a:r>
            <a:r>
              <a:rPr lang="en-US" sz="1150" b="1" i="0" dirty="0">
                <a:solidFill>
                  <a:srgbClr val="C2410C"/>
                </a:solidFill>
              </a:rPr>
              <a:t> [FK]</a:t>
            </a:r>
            <a:r>
              <a:rPr lang="en-US" sz="1350" b="0" i="0" dirty="0">
                <a:solidFill>
                  <a:srgbClr val="404040"/>
                </a:solidFill>
              </a:rPr>
              <a:t> — employee involved, when applicable</a:t>
            </a:r>
          </a:p>
          <a:p>
            <a:pPr algn="l">
              <a:spcBef>
                <a:spcPts val="1000"/>
              </a:spcBef>
            </a:pPr>
            <a:r>
              <a:rPr lang="en-US" sz="1350" b="1" i="0" dirty="0">
                <a:solidFill>
                  <a:srgbClr val="156082"/>
                </a:solidFill>
              </a:rPr>
              <a:t>Transaction_Type</a:t>
            </a:r>
            <a:r>
              <a:rPr lang="en-US" sz="1350" b="0" i="0" dirty="0">
                <a:solidFill>
                  <a:srgbClr val="404040"/>
                </a:solidFill>
              </a:rPr>
              <a:t> — type of transaction</a:t>
            </a:r>
          </a:p>
          <a:p>
            <a:pPr algn="l">
              <a:spcBef>
                <a:spcPts val="1000"/>
              </a:spcBef>
            </a:pPr>
            <a:r>
              <a:rPr lang="en-US" sz="1350" b="1" i="0" dirty="0">
                <a:solidFill>
                  <a:srgbClr val="156082"/>
                </a:solidFill>
              </a:rPr>
              <a:t>Amount</a:t>
            </a:r>
            <a:r>
              <a:rPr lang="en-US" sz="1350" b="0" i="0" dirty="0">
                <a:solidFill>
                  <a:srgbClr val="404040"/>
                </a:solidFill>
              </a:rPr>
              <a:t> — transaction amount</a:t>
            </a:r>
          </a:p>
          <a:p>
            <a:pPr algn="l">
              <a:spcBef>
                <a:spcPts val="1000"/>
              </a:spcBef>
            </a:pPr>
            <a:r>
              <a:rPr lang="en-US" sz="1350" b="1" i="0" dirty="0">
                <a:solidFill>
                  <a:srgbClr val="156082"/>
                </a:solidFill>
              </a:rPr>
              <a:t>Transaction_Date_Time</a:t>
            </a:r>
            <a:r>
              <a:rPr lang="en-US" sz="1350" b="0" i="0" dirty="0">
                <a:solidFill>
                  <a:srgbClr val="404040"/>
                </a:solidFill>
              </a:rPr>
              <a:t> — transaction timestamp</a:t>
            </a:r>
          </a:p>
          <a:p>
            <a:pPr algn="l">
              <a:spcBef>
                <a:spcPts val="1000"/>
              </a:spcBef>
            </a:pPr>
            <a:r>
              <a:rPr lang="en-US" sz="1350" b="1" i="0" dirty="0">
                <a:solidFill>
                  <a:srgbClr val="156082"/>
                </a:solidFill>
              </a:rPr>
              <a:t>Balance_After</a:t>
            </a:r>
            <a:r>
              <a:rPr lang="en-US" sz="1350" b="0" i="0" dirty="0">
                <a:solidFill>
                  <a:srgbClr val="404040"/>
                </a:solidFill>
              </a:rPr>
              <a:t> — balance after transaction</a:t>
            </a:r>
          </a:p>
          <a:p>
            <a:pPr algn="l">
              <a:spcBef>
                <a:spcPts val="1000"/>
              </a:spcBef>
            </a:pPr>
            <a:r>
              <a:rPr lang="en-US" sz="1350" b="1" i="0" dirty="0">
                <a:solidFill>
                  <a:srgbClr val="156082"/>
                </a:solidFill>
              </a:rPr>
              <a:t>Channel</a:t>
            </a:r>
            <a:r>
              <a:rPr lang="en-US" sz="1350" b="0" i="0" dirty="0">
                <a:solidFill>
                  <a:srgbClr val="404040"/>
                </a:solidFill>
              </a:rPr>
              <a:t> — transaction channel</a:t>
            </a:r>
          </a:p>
          <a:p>
            <a:pPr algn="l">
              <a:spcBef>
                <a:spcPts val="1000"/>
              </a:spcBef>
            </a:pPr>
            <a:r>
              <a:rPr lang="en-US" sz="1350" b="1" i="0" dirty="0">
                <a:solidFill>
                  <a:srgbClr val="156082"/>
                </a:solidFill>
              </a:rPr>
              <a:t>Status</a:t>
            </a:r>
            <a:r>
              <a:rPr lang="en-US" sz="1350" b="0" i="0" dirty="0">
                <a:solidFill>
                  <a:srgbClr val="404040"/>
                </a:solidFill>
              </a:rPr>
              <a:t> — Completed/Failed/Pending</a:t>
            </a:r>
          </a:p>
        </p:txBody>
      </p:sp>
      <p:sp>
        <p:nvSpPr>
          <p:cNvPr id="15" name="Card 15"/>
          <p:cNvSpPr/>
          <p:nvPr/>
        </p:nvSpPr>
        <p:spPr>
          <a:xfrm>
            <a:off x="6234379" y="1920240"/>
            <a:ext cx="5408676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6" name="Header 16"/>
          <p:cNvSpPr txBox="1"/>
          <p:nvPr/>
        </p:nvSpPr>
        <p:spPr>
          <a:xfrm>
            <a:off x="6371539" y="2011680"/>
            <a:ext cx="5134356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100" b="1" i="0" dirty="0">
                <a:solidFill>
                  <a:srgbClr val="0E2841"/>
                </a:solidFill>
              </a:rPr>
              <a:t>FUND_TRANSFER</a:t>
            </a:r>
          </a:p>
          <a:p>
            <a:pPr algn="l">
              <a:spcBef>
                <a:spcPts val="300"/>
              </a:spcBef>
            </a:pPr>
            <a:r>
              <a:rPr lang="en-US" sz="1300" b="0" i="1" dirty="0">
                <a:solidFill>
                  <a:srgbClr val="595959"/>
                </a:solidFill>
                <a:highlight>
                  <a:srgbClr val="FFFF00"/>
                </a:highlight>
              </a:rPr>
              <a:t>Stores the details of a transfer between a source account and a destination account</a:t>
            </a:r>
            <a:r>
              <a:rPr lang="en-US" sz="1300" b="0" i="1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7" name="Rows 17"/>
          <p:cNvSpPr txBox="1"/>
          <p:nvPr/>
        </p:nvSpPr>
        <p:spPr>
          <a:xfrm>
            <a:off x="6371539" y="2926080"/>
            <a:ext cx="513435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Transaction_ID</a:t>
            </a:r>
            <a:r>
              <a:rPr lang="en-US" sz="1300" b="1" i="0" dirty="0">
                <a:solidFill>
                  <a:srgbClr val="C2410C"/>
                </a:solidFill>
              </a:rPr>
              <a:t> [PK, FK]</a:t>
            </a:r>
            <a:r>
              <a:rPr lang="en-US" sz="1500" b="0" i="0" dirty="0">
                <a:solidFill>
                  <a:srgbClr val="404040"/>
                </a:solidFill>
              </a:rPr>
              <a:t> — linked transaction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From_Account_No</a:t>
            </a:r>
            <a:r>
              <a:rPr lang="en-US" sz="1300" b="1" i="0" dirty="0">
                <a:solidFill>
                  <a:srgbClr val="C2410C"/>
                </a:solidFill>
              </a:rPr>
              <a:t> [FK]</a:t>
            </a:r>
            <a:r>
              <a:rPr lang="en-US" sz="1500" b="0" i="0" dirty="0">
                <a:solidFill>
                  <a:srgbClr val="404040"/>
                </a:solidFill>
              </a:rPr>
              <a:t> — source account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To_Account_No</a:t>
            </a:r>
            <a:r>
              <a:rPr lang="en-US" sz="1300" b="1" i="0" dirty="0">
                <a:solidFill>
                  <a:srgbClr val="C2410C"/>
                </a:solidFill>
              </a:rPr>
              <a:t> [FK]</a:t>
            </a:r>
            <a:r>
              <a:rPr lang="en-US" sz="1500" b="0" i="0" dirty="0">
                <a:solidFill>
                  <a:srgbClr val="404040"/>
                </a:solidFill>
              </a:rPr>
              <a:t> — destination account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Transfer_Mode</a:t>
            </a:r>
            <a:r>
              <a:rPr lang="en-US" sz="1500" b="0" i="0" dirty="0">
                <a:solidFill>
                  <a:srgbClr val="404040"/>
                </a:solidFill>
              </a:rPr>
              <a:t> — transfer method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Reference_No</a:t>
            </a:r>
            <a:r>
              <a:rPr lang="en-US" sz="1300" b="1" i="0" dirty="0">
                <a:solidFill>
                  <a:srgbClr val="C2410C"/>
                </a:solidFill>
              </a:rPr>
              <a:t> [UNIQUE]</a:t>
            </a:r>
            <a:r>
              <a:rPr lang="en-US" sz="1500" b="0" i="0" dirty="0">
                <a:solidFill>
                  <a:srgbClr val="404040"/>
                </a:solidFill>
              </a:rPr>
              <a:t> — unique transfer reference</a:t>
            </a:r>
          </a:p>
        </p:txBody>
      </p:sp>
    </p:spTree>
  </p:cSld>
  <p:clrMapOvr>
    <a:masterClrMapping/>
  </p:clrMapOvr>
  <p:transition spd="slow">
    <p:circl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chemeClr val="tx2">
                <a:lumMod val="75000"/>
                <a:lumOff val="2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8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3000" b="1" i="0" dirty="0">
                <a:solidFill>
                  <a:srgbClr val="FFFFFF"/>
                </a:solidFill>
              </a:rPr>
              <a:t>Part 3 — Loan Management (1/2)</a:t>
            </a:r>
          </a:p>
        </p:txBody>
      </p:sp>
      <p:sp>
        <p:nvSpPr>
          <p:cNvPr id="11" name="Purpose 11"/>
          <p:cNvSpPr/>
          <p:nvPr/>
        </p:nvSpPr>
        <p:spPr>
          <a:xfrm>
            <a:off x="548640" y="1188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300" b="1" i="0" dirty="0">
                <a:solidFill>
                  <a:srgbClr val="0E2841"/>
                </a:solidFill>
              </a:rPr>
              <a:t>Part Purpose:  </a:t>
            </a:r>
            <a:r>
              <a:rPr lang="en-US" sz="1300" b="0" i="0" dirty="0">
                <a:solidFill>
                  <a:srgbClr val="404040"/>
                </a:solidFill>
              </a:rPr>
              <a:t>Manages loan categories, individual loans and loan repayment records.</a:t>
            </a:r>
          </a:p>
        </p:txBody>
      </p:sp>
      <p:sp>
        <p:nvSpPr>
          <p:cNvPr id="12" name="Card 12"/>
          <p:cNvSpPr/>
          <p:nvPr/>
        </p:nvSpPr>
        <p:spPr>
          <a:xfrm>
            <a:off x="548640" y="1920240"/>
            <a:ext cx="384048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3" name="Header 13"/>
          <p:cNvSpPr txBox="1"/>
          <p:nvPr/>
        </p:nvSpPr>
        <p:spPr>
          <a:xfrm>
            <a:off x="685800" y="2011680"/>
            <a:ext cx="3566160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100" b="1" i="0" dirty="0">
                <a:solidFill>
                  <a:srgbClr val="0E2841"/>
                </a:solidFill>
              </a:rPr>
              <a:t>LOAN_TYPE</a:t>
            </a:r>
          </a:p>
          <a:p>
            <a:pPr algn="l">
              <a:spcBef>
                <a:spcPts val="300"/>
              </a:spcBef>
            </a:pPr>
            <a:r>
              <a:rPr lang="en-US" sz="1300" b="0" i="1" dirty="0">
                <a:solidFill>
                  <a:srgbClr val="595959"/>
                </a:solidFill>
                <a:highlight>
                  <a:srgbClr val="FFFF00"/>
                </a:highlight>
              </a:rPr>
              <a:t>Defines the available loan categories and their financial limits.</a:t>
            </a:r>
          </a:p>
        </p:txBody>
      </p:sp>
      <p:sp>
        <p:nvSpPr>
          <p:cNvPr id="14" name="Rows 14"/>
          <p:cNvSpPr txBox="1"/>
          <p:nvPr/>
        </p:nvSpPr>
        <p:spPr>
          <a:xfrm>
            <a:off x="685800" y="2926080"/>
            <a:ext cx="3566160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Loan_Type_ID</a:t>
            </a:r>
            <a:r>
              <a:rPr lang="en-US" sz="1100" b="1" i="0" dirty="0">
                <a:solidFill>
                  <a:srgbClr val="C2410C"/>
                </a:solidFill>
              </a:rPr>
              <a:t> [PK]</a:t>
            </a:r>
            <a:r>
              <a:rPr lang="en-US" sz="1300" b="0" i="0" dirty="0">
                <a:solidFill>
                  <a:srgbClr val="404040"/>
                </a:solidFill>
              </a:rPr>
              <a:t> — identifies loan type</a:t>
            </a:r>
          </a:p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Loan_Type_Name</a:t>
            </a:r>
            <a:r>
              <a:rPr lang="en-US" sz="1100" b="1" i="0" dirty="0">
                <a:solidFill>
                  <a:srgbClr val="C2410C"/>
                </a:solidFill>
              </a:rPr>
              <a:t> [UNIQUE]</a:t>
            </a:r>
            <a:r>
              <a:rPr lang="en-US" sz="1300" b="0" i="0" dirty="0">
                <a:solidFill>
                  <a:srgbClr val="404040"/>
                </a:solidFill>
              </a:rPr>
              <a:t> — unique loan category</a:t>
            </a:r>
          </a:p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Interest_Rate</a:t>
            </a:r>
            <a:r>
              <a:rPr lang="en-US" sz="1300" b="0" i="0" dirty="0">
                <a:solidFill>
                  <a:srgbClr val="404040"/>
                </a:solidFill>
              </a:rPr>
              <a:t> — loan rate</a:t>
            </a:r>
          </a:p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Max_Amount</a:t>
            </a:r>
            <a:r>
              <a:rPr lang="en-US" sz="1300" b="0" i="0" dirty="0">
                <a:solidFill>
                  <a:srgbClr val="404040"/>
                </a:solidFill>
              </a:rPr>
              <a:t> — maximum loan amount</a:t>
            </a:r>
          </a:p>
        </p:txBody>
      </p:sp>
      <p:sp>
        <p:nvSpPr>
          <p:cNvPr id="15" name="Card 15"/>
          <p:cNvSpPr/>
          <p:nvPr/>
        </p:nvSpPr>
        <p:spPr>
          <a:xfrm>
            <a:off x="4663440" y="1920240"/>
            <a:ext cx="6976872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6" name="Header 16"/>
          <p:cNvSpPr txBox="1"/>
          <p:nvPr/>
        </p:nvSpPr>
        <p:spPr>
          <a:xfrm>
            <a:off x="4800600" y="2011680"/>
            <a:ext cx="6702552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100" b="1" i="0" dirty="0">
                <a:solidFill>
                  <a:srgbClr val="0E2841"/>
                </a:solidFill>
              </a:rPr>
              <a:t>LOAN</a:t>
            </a:r>
          </a:p>
          <a:p>
            <a:pPr algn="l">
              <a:spcBef>
                <a:spcPts val="300"/>
              </a:spcBef>
            </a:pPr>
            <a:r>
              <a:rPr lang="en-US" sz="1300" b="0" i="1" dirty="0">
                <a:solidFill>
                  <a:srgbClr val="595959"/>
                </a:solidFill>
                <a:highlight>
                  <a:srgbClr val="FFFF00"/>
                </a:highlight>
              </a:rPr>
              <a:t>Stores each customer's loan details, terms, status and outstanding amount</a:t>
            </a:r>
            <a:r>
              <a:rPr lang="en-US" sz="1300" b="0" i="1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7" name="Rows 17"/>
          <p:cNvSpPr txBox="1"/>
          <p:nvPr/>
        </p:nvSpPr>
        <p:spPr>
          <a:xfrm>
            <a:off x="4800600" y="2926080"/>
            <a:ext cx="335127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Loan_ID</a:t>
            </a:r>
            <a:r>
              <a:rPr lang="en-US" sz="1100" b="1" i="0" dirty="0">
                <a:solidFill>
                  <a:srgbClr val="C2410C"/>
                </a:solidFill>
              </a:rPr>
              <a:t> [PK]</a:t>
            </a:r>
            <a:r>
              <a:rPr lang="en-US" sz="1300" b="0" i="0" dirty="0">
                <a:solidFill>
                  <a:srgbClr val="404040"/>
                </a:solidFill>
              </a:rPr>
              <a:t> — uniquely identifies loan</a:t>
            </a:r>
          </a:p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CIF</a:t>
            </a:r>
            <a:r>
              <a:rPr lang="en-US" sz="1100" b="1" i="0" dirty="0">
                <a:solidFill>
                  <a:srgbClr val="C2410C"/>
                </a:solidFill>
              </a:rPr>
              <a:t> [FK]</a:t>
            </a:r>
            <a:r>
              <a:rPr lang="en-US" sz="1300" b="0" i="0" dirty="0">
                <a:solidFill>
                  <a:srgbClr val="404040"/>
                </a:solidFill>
              </a:rPr>
              <a:t> — customer receiving loan</a:t>
            </a:r>
          </a:p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Account_No</a:t>
            </a:r>
            <a:r>
              <a:rPr lang="en-US" sz="1100" b="1" i="0" dirty="0">
                <a:solidFill>
                  <a:srgbClr val="C2410C"/>
                </a:solidFill>
              </a:rPr>
              <a:t> [FK]</a:t>
            </a:r>
            <a:r>
              <a:rPr lang="en-US" sz="1300" b="0" i="0" dirty="0">
                <a:solidFill>
                  <a:srgbClr val="404040"/>
                </a:solidFill>
              </a:rPr>
              <a:t> — linked account</a:t>
            </a:r>
          </a:p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Loan_Type_ID</a:t>
            </a:r>
            <a:r>
              <a:rPr lang="en-US" sz="1100" b="1" i="0" dirty="0">
                <a:solidFill>
                  <a:srgbClr val="C2410C"/>
                </a:solidFill>
              </a:rPr>
              <a:t> [FK]</a:t>
            </a:r>
            <a:r>
              <a:rPr lang="en-US" sz="1300" b="0" i="0" dirty="0">
                <a:solidFill>
                  <a:srgbClr val="404040"/>
                </a:solidFill>
              </a:rPr>
              <a:t> — loan category</a:t>
            </a:r>
          </a:p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Employee_ID</a:t>
            </a:r>
            <a:r>
              <a:rPr lang="en-US" sz="1100" b="1" i="0" dirty="0">
                <a:solidFill>
                  <a:srgbClr val="C2410C"/>
                </a:solidFill>
              </a:rPr>
              <a:t> [FK]</a:t>
            </a:r>
            <a:r>
              <a:rPr lang="en-US" sz="1300" b="0" i="0" dirty="0">
                <a:solidFill>
                  <a:srgbClr val="404040"/>
                </a:solidFill>
              </a:rPr>
              <a:t> — responsible employee</a:t>
            </a:r>
          </a:p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Principal_Amount</a:t>
            </a:r>
            <a:r>
              <a:rPr lang="en-US" sz="1300" b="0" i="0" dirty="0">
                <a:solidFill>
                  <a:srgbClr val="404040"/>
                </a:solidFill>
              </a:rPr>
              <a:t> — original loan amount</a:t>
            </a:r>
          </a:p>
        </p:txBody>
      </p:sp>
      <p:sp>
        <p:nvSpPr>
          <p:cNvPr id="18" name="Rows 18"/>
          <p:cNvSpPr txBox="1"/>
          <p:nvPr/>
        </p:nvSpPr>
        <p:spPr>
          <a:xfrm>
            <a:off x="8151875" y="2926080"/>
            <a:ext cx="335127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Interest_Rate</a:t>
            </a:r>
            <a:r>
              <a:rPr lang="en-US" sz="1300" b="0" i="0" dirty="0">
                <a:solidFill>
                  <a:srgbClr val="404040"/>
                </a:solidFill>
              </a:rPr>
              <a:t> — loan rate</a:t>
            </a:r>
          </a:p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Tenure_Months</a:t>
            </a:r>
            <a:r>
              <a:rPr lang="en-US" sz="1300" b="0" i="0" dirty="0">
                <a:solidFill>
                  <a:srgbClr val="404040"/>
                </a:solidFill>
              </a:rPr>
              <a:t> — loan duration</a:t>
            </a:r>
          </a:p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EMI_Amount</a:t>
            </a:r>
            <a:r>
              <a:rPr lang="en-US" sz="1300" b="0" i="0" dirty="0">
                <a:solidFill>
                  <a:srgbClr val="404040"/>
                </a:solidFill>
              </a:rPr>
              <a:t> — monthly installment</a:t>
            </a:r>
          </a:p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Remaining_Amount</a:t>
            </a:r>
            <a:r>
              <a:rPr lang="en-US" sz="1300" b="0" i="0" dirty="0">
                <a:solidFill>
                  <a:srgbClr val="404040"/>
                </a:solidFill>
              </a:rPr>
              <a:t> — outstanding amount</a:t>
            </a:r>
          </a:p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Start_Date, End_Date</a:t>
            </a:r>
            <a:r>
              <a:rPr lang="en-US" sz="1300" b="0" i="0" dirty="0">
                <a:solidFill>
                  <a:srgbClr val="404040"/>
                </a:solidFill>
              </a:rPr>
              <a:t> — loan period</a:t>
            </a:r>
          </a:p>
          <a:p>
            <a:pPr algn="l">
              <a:spcBef>
                <a:spcPts val="900"/>
              </a:spcBef>
            </a:pPr>
            <a:r>
              <a:rPr lang="en-US" sz="1300" b="1" i="0" dirty="0">
                <a:solidFill>
                  <a:srgbClr val="156082"/>
                </a:solidFill>
              </a:rPr>
              <a:t>Loan_Status</a:t>
            </a:r>
            <a:r>
              <a:rPr lang="en-US" sz="1300" b="0" i="0" dirty="0">
                <a:solidFill>
                  <a:srgbClr val="404040"/>
                </a:solidFill>
              </a:rPr>
              <a:t> — current loan status</a:t>
            </a:r>
          </a:p>
        </p:txBody>
      </p:sp>
    </p:spTree>
  </p:cSld>
  <p:clrMapOvr>
    <a:masterClrMapping/>
  </p:clrMapOvr>
  <p:transition spd="slow">
    <p:circl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chemeClr val="tx2">
                <a:lumMod val="75000"/>
                <a:lumOff val="2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8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3000" b="1" i="0" dirty="0">
                <a:solidFill>
                  <a:srgbClr val="FFFFFF"/>
                </a:solidFill>
              </a:rPr>
              <a:t>Part 3 — Loan Management (2/2)</a:t>
            </a:r>
          </a:p>
        </p:txBody>
      </p:sp>
      <p:sp>
        <p:nvSpPr>
          <p:cNvPr id="11" name="Purpose 11"/>
          <p:cNvSpPr/>
          <p:nvPr/>
        </p:nvSpPr>
        <p:spPr>
          <a:xfrm>
            <a:off x="548640" y="1188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300" b="1" i="0" dirty="0">
                <a:solidFill>
                  <a:srgbClr val="0E2841"/>
                </a:solidFill>
              </a:rPr>
              <a:t>Part Purpose:  </a:t>
            </a:r>
            <a:r>
              <a:rPr lang="en-US" sz="1300" b="0" i="0" dirty="0">
                <a:solidFill>
                  <a:srgbClr val="404040"/>
                </a:solidFill>
              </a:rPr>
              <a:t>Manages loan categories, individual loans and loan repayment records.</a:t>
            </a:r>
          </a:p>
        </p:txBody>
      </p:sp>
      <p:sp>
        <p:nvSpPr>
          <p:cNvPr id="12" name="Card 12"/>
          <p:cNvSpPr/>
          <p:nvPr/>
        </p:nvSpPr>
        <p:spPr>
          <a:xfrm>
            <a:off x="548640" y="1920240"/>
            <a:ext cx="11091672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3" name="Header 13"/>
          <p:cNvSpPr txBox="1"/>
          <p:nvPr/>
        </p:nvSpPr>
        <p:spPr>
          <a:xfrm>
            <a:off x="685800" y="2011680"/>
            <a:ext cx="10817352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100" b="1" i="0" dirty="0">
                <a:solidFill>
                  <a:srgbClr val="0E2841"/>
                </a:solidFill>
              </a:rPr>
              <a:t>LOAN_PAYMENT</a:t>
            </a:r>
          </a:p>
          <a:p>
            <a:pPr algn="l">
              <a:spcBef>
                <a:spcPts val="300"/>
              </a:spcBef>
            </a:pPr>
            <a:r>
              <a:rPr lang="en-US" sz="1300" b="0" i="1" dirty="0">
                <a:solidFill>
                  <a:srgbClr val="595959"/>
                </a:solidFill>
                <a:highlight>
                  <a:srgbClr val="FFFF00"/>
                </a:highlight>
              </a:rPr>
              <a:t>Records each repayment made against a loan.</a:t>
            </a:r>
          </a:p>
        </p:txBody>
      </p:sp>
      <p:sp>
        <p:nvSpPr>
          <p:cNvPr id="14" name="Rows 14"/>
          <p:cNvSpPr txBox="1"/>
          <p:nvPr/>
        </p:nvSpPr>
        <p:spPr>
          <a:xfrm>
            <a:off x="685800" y="2926080"/>
            <a:ext cx="540867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Payment_ID</a:t>
            </a:r>
            <a:r>
              <a:rPr lang="en-US" sz="1500" b="1" i="0" dirty="0">
                <a:solidFill>
                  <a:srgbClr val="C2410C"/>
                </a:solidFill>
              </a:rPr>
              <a:t> [PK]</a:t>
            </a:r>
            <a:r>
              <a:rPr lang="en-US" sz="1700" b="0" i="0" dirty="0">
                <a:solidFill>
                  <a:srgbClr val="404040"/>
                </a:solidFill>
              </a:rPr>
              <a:t> — uniquely identifies payment</a:t>
            </a:r>
          </a:p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Loan_ID</a:t>
            </a:r>
            <a:r>
              <a:rPr lang="en-US" sz="1500" b="1" i="0" dirty="0">
                <a:solidFill>
                  <a:srgbClr val="C2410C"/>
                </a:solidFill>
              </a:rPr>
              <a:t> [FK]</a:t>
            </a:r>
            <a:r>
              <a:rPr lang="en-US" sz="1700" b="0" i="0" dirty="0">
                <a:solidFill>
                  <a:srgbClr val="404040"/>
                </a:solidFill>
              </a:rPr>
              <a:t> — loan being repaid</a:t>
            </a:r>
          </a:p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Transaction_ID</a:t>
            </a:r>
            <a:r>
              <a:rPr lang="en-US" sz="1500" b="1" i="0" dirty="0">
                <a:solidFill>
                  <a:srgbClr val="C2410C"/>
                </a:solidFill>
              </a:rPr>
              <a:t> [FK]</a:t>
            </a:r>
            <a:r>
              <a:rPr lang="en-US" sz="1700" b="0" i="0" dirty="0">
                <a:solidFill>
                  <a:srgbClr val="404040"/>
                </a:solidFill>
              </a:rPr>
              <a:t> — linked transaction</a:t>
            </a:r>
          </a:p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Payment_Method</a:t>
            </a:r>
            <a:r>
              <a:rPr lang="en-US" sz="1700" b="0" i="0" dirty="0">
                <a:solidFill>
                  <a:srgbClr val="404040"/>
                </a:solidFill>
              </a:rPr>
              <a:t> — payment method</a:t>
            </a:r>
          </a:p>
        </p:txBody>
      </p:sp>
      <p:sp>
        <p:nvSpPr>
          <p:cNvPr id="15" name="Rows 15"/>
          <p:cNvSpPr txBox="1"/>
          <p:nvPr/>
        </p:nvSpPr>
        <p:spPr>
          <a:xfrm>
            <a:off x="6094476" y="2926080"/>
            <a:ext cx="540867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Payment_Status</a:t>
            </a:r>
            <a:r>
              <a:rPr lang="en-US" sz="1700" b="0" i="0" dirty="0">
                <a:solidFill>
                  <a:srgbClr val="404040"/>
                </a:solidFill>
              </a:rPr>
              <a:t> — payment status</a:t>
            </a:r>
          </a:p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Principal_Paid</a:t>
            </a:r>
            <a:r>
              <a:rPr lang="en-US" sz="1700" b="0" i="0" dirty="0">
                <a:solidFill>
                  <a:srgbClr val="404040"/>
                </a:solidFill>
              </a:rPr>
              <a:t> — principal component</a:t>
            </a:r>
          </a:p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Interest_Paid</a:t>
            </a:r>
            <a:r>
              <a:rPr lang="en-US" sz="1700" b="0" i="0" dirty="0">
                <a:solidFill>
                  <a:srgbClr val="404040"/>
                </a:solidFill>
              </a:rPr>
              <a:t> — interest component</a:t>
            </a:r>
          </a:p>
          <a:p>
            <a:pPr algn="l">
              <a:spcBef>
                <a:spcPts val="1200"/>
              </a:spcBef>
            </a:pPr>
            <a:r>
              <a:rPr lang="en-US" sz="1700" b="1" i="0" dirty="0">
                <a:solidFill>
                  <a:srgbClr val="156082"/>
                </a:solidFill>
              </a:rPr>
              <a:t>Remaining_Balance</a:t>
            </a:r>
            <a:r>
              <a:rPr lang="en-US" sz="1700" b="0" i="0" dirty="0">
                <a:solidFill>
                  <a:srgbClr val="404040"/>
                </a:solidFill>
              </a:rPr>
              <a:t> — balance after payment</a:t>
            </a:r>
          </a:p>
        </p:txBody>
      </p:sp>
    </p:spTree>
  </p:cSld>
  <p:clrMapOvr>
    <a:masterClrMapping/>
  </p:clrMapOvr>
  <p:transition spd="slow">
    <p:circl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6000">
              <a:schemeClr val="tx2">
                <a:lumMod val="75000"/>
                <a:lumOff val="2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89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82880"/>
            <a:ext cx="11064240" cy="777240"/>
          </a:xfrm>
        </p:spPr>
        <p:txBody>
          <a:bodyPr lIns="0" anchor="ctr">
            <a:normAutofit/>
          </a:bodyPr>
          <a:lstStyle/>
          <a:p>
            <a:pPr algn="l">
              <a:spcBef>
                <a:spcPts val="0"/>
              </a:spcBef>
            </a:pPr>
            <a:r>
              <a:rPr lang="en-US" sz="3000" b="1" i="0" dirty="0">
                <a:solidFill>
                  <a:srgbClr val="FFFFFF"/>
                </a:solidFill>
              </a:rPr>
              <a:t>Part 4 — Authentication &amp; Data Integrity</a:t>
            </a:r>
          </a:p>
        </p:txBody>
      </p:sp>
      <p:sp>
        <p:nvSpPr>
          <p:cNvPr id="11" name="Purpose 11"/>
          <p:cNvSpPr/>
          <p:nvPr/>
        </p:nvSpPr>
        <p:spPr>
          <a:xfrm>
            <a:off x="548640" y="1188720"/>
            <a:ext cx="11091672" cy="548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182880" tIns="182880" rIns="182880" bIns="182880" anchor="ctr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1300" b="1" i="0" dirty="0">
                <a:solidFill>
                  <a:srgbClr val="0E2841"/>
                </a:solidFill>
              </a:rPr>
              <a:t>Part Purpose:  </a:t>
            </a:r>
            <a:r>
              <a:rPr lang="en-US" sz="1300" b="0" i="0" dirty="0">
                <a:solidFill>
                  <a:srgbClr val="404040"/>
                </a:solidFill>
              </a:rPr>
              <a:t>Provides user authentication and enforces rules that keep banking data valid, unique and correctly related.</a:t>
            </a:r>
          </a:p>
        </p:txBody>
      </p:sp>
      <p:sp>
        <p:nvSpPr>
          <p:cNvPr id="12" name="Card 12"/>
          <p:cNvSpPr/>
          <p:nvPr/>
        </p:nvSpPr>
        <p:spPr>
          <a:xfrm>
            <a:off x="548640" y="1920240"/>
            <a:ext cx="5408676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3" name="Header 13"/>
          <p:cNvSpPr txBox="1"/>
          <p:nvPr/>
        </p:nvSpPr>
        <p:spPr>
          <a:xfrm>
            <a:off x="685800" y="2011680"/>
            <a:ext cx="5134356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100" b="1" i="0" dirty="0">
                <a:solidFill>
                  <a:srgbClr val="0E2841"/>
                </a:solidFill>
              </a:rPr>
              <a:t>LOGIN</a:t>
            </a:r>
          </a:p>
          <a:p>
            <a:pPr algn="l">
              <a:spcBef>
                <a:spcPts val="300"/>
              </a:spcBef>
            </a:pPr>
            <a:r>
              <a:rPr lang="en-US" sz="1300" b="0" i="1" dirty="0">
                <a:solidFill>
                  <a:srgbClr val="595959"/>
                </a:solidFill>
                <a:highlight>
                  <a:srgbClr val="FFFF00"/>
                </a:highlight>
              </a:rPr>
              <a:t>Manages authentication information for customers, employees and administrators</a:t>
            </a:r>
            <a:r>
              <a:rPr lang="en-US" sz="1300" b="0" i="1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4" name="Rows 14"/>
          <p:cNvSpPr txBox="1"/>
          <p:nvPr/>
        </p:nvSpPr>
        <p:spPr>
          <a:xfrm>
            <a:off x="685800" y="2926080"/>
            <a:ext cx="513435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1000"/>
              </a:spcBef>
            </a:pPr>
            <a:r>
              <a:rPr lang="en-US" sz="1400" b="1" i="0" dirty="0">
                <a:solidFill>
                  <a:srgbClr val="156082"/>
                </a:solidFill>
              </a:rPr>
              <a:t>Login_ID</a:t>
            </a:r>
            <a:r>
              <a:rPr lang="en-US" sz="1200" b="1" i="0" dirty="0">
                <a:solidFill>
                  <a:srgbClr val="C2410C"/>
                </a:solidFill>
              </a:rPr>
              <a:t> [PK]</a:t>
            </a:r>
            <a:r>
              <a:rPr lang="en-US" sz="1400" b="0" i="0" dirty="0">
                <a:solidFill>
                  <a:srgbClr val="404040"/>
                </a:solidFill>
              </a:rPr>
              <a:t> — uniquely identifies login</a:t>
            </a:r>
          </a:p>
          <a:p>
            <a:pPr algn="l">
              <a:spcBef>
                <a:spcPts val="1000"/>
              </a:spcBef>
            </a:pPr>
            <a:r>
              <a:rPr lang="en-US" sz="1400" b="1" i="0" dirty="0">
                <a:solidFill>
                  <a:srgbClr val="156082"/>
                </a:solidFill>
              </a:rPr>
              <a:t>Username</a:t>
            </a:r>
            <a:r>
              <a:rPr lang="en-US" sz="1200" b="1" i="0" dirty="0">
                <a:solidFill>
                  <a:srgbClr val="C2410C"/>
                </a:solidFill>
              </a:rPr>
              <a:t> [UNIQUE]</a:t>
            </a:r>
            <a:r>
              <a:rPr lang="en-US" sz="1400" b="0" i="0" dirty="0">
                <a:solidFill>
                  <a:srgbClr val="404040"/>
                </a:solidFill>
              </a:rPr>
              <a:t> — unique login name</a:t>
            </a:r>
          </a:p>
          <a:p>
            <a:pPr algn="l">
              <a:spcBef>
                <a:spcPts val="1000"/>
              </a:spcBef>
            </a:pPr>
            <a:r>
              <a:rPr lang="en-US" sz="1400" b="1" i="0" dirty="0">
                <a:solidFill>
                  <a:srgbClr val="156082"/>
                </a:solidFill>
              </a:rPr>
              <a:t>Password_Hash</a:t>
            </a:r>
            <a:r>
              <a:rPr lang="en-US" sz="1400" b="0" i="0" dirty="0">
                <a:solidFill>
                  <a:srgbClr val="404040"/>
                </a:solidFill>
              </a:rPr>
              <a:t> — stored password representation</a:t>
            </a:r>
          </a:p>
          <a:p>
            <a:pPr algn="l">
              <a:spcBef>
                <a:spcPts val="1000"/>
              </a:spcBef>
            </a:pPr>
            <a:r>
              <a:rPr lang="en-US" sz="1400" b="1" i="0" dirty="0">
                <a:solidFill>
                  <a:srgbClr val="156082"/>
                </a:solidFill>
              </a:rPr>
              <a:t>Role</a:t>
            </a:r>
            <a:r>
              <a:rPr lang="en-US" sz="1400" b="0" i="0" dirty="0">
                <a:solidFill>
                  <a:srgbClr val="404040"/>
                </a:solidFill>
              </a:rPr>
              <a:t> — customer/employee/admin</a:t>
            </a:r>
          </a:p>
          <a:p>
            <a:pPr algn="l">
              <a:spcBef>
                <a:spcPts val="1000"/>
              </a:spcBef>
            </a:pPr>
            <a:r>
              <a:rPr lang="en-US" sz="1400" b="1" i="0" dirty="0">
                <a:solidFill>
                  <a:srgbClr val="156082"/>
                </a:solidFill>
              </a:rPr>
              <a:t>Employee_ID</a:t>
            </a:r>
            <a:r>
              <a:rPr lang="en-US" sz="1200" b="1" i="0" dirty="0">
                <a:solidFill>
                  <a:srgbClr val="C2410C"/>
                </a:solidFill>
              </a:rPr>
              <a:t> [FK]</a:t>
            </a:r>
            <a:r>
              <a:rPr lang="en-US" sz="1400" b="0" i="0" dirty="0">
                <a:solidFill>
                  <a:srgbClr val="404040"/>
                </a:solidFill>
              </a:rPr>
              <a:t> — employee/admin link</a:t>
            </a:r>
          </a:p>
          <a:p>
            <a:pPr algn="l">
              <a:spcBef>
                <a:spcPts val="1000"/>
              </a:spcBef>
            </a:pPr>
            <a:r>
              <a:rPr lang="en-US" sz="1400" b="1" i="0" dirty="0">
                <a:solidFill>
                  <a:srgbClr val="156082"/>
                </a:solidFill>
              </a:rPr>
              <a:t>CIF</a:t>
            </a:r>
            <a:r>
              <a:rPr lang="en-US" sz="1200" b="1" i="0" dirty="0">
                <a:solidFill>
                  <a:srgbClr val="C2410C"/>
                </a:solidFill>
              </a:rPr>
              <a:t> [FK]</a:t>
            </a:r>
            <a:r>
              <a:rPr lang="en-US" sz="1400" b="0" i="0" dirty="0">
                <a:solidFill>
                  <a:srgbClr val="404040"/>
                </a:solidFill>
              </a:rPr>
              <a:t> — customer link</a:t>
            </a:r>
          </a:p>
          <a:p>
            <a:pPr algn="l">
              <a:spcBef>
                <a:spcPts val="1000"/>
              </a:spcBef>
            </a:pPr>
            <a:r>
              <a:rPr lang="en-US" sz="1400" b="1" i="0" dirty="0">
                <a:solidFill>
                  <a:srgbClr val="156082"/>
                </a:solidFill>
              </a:rPr>
              <a:t>Last_Login</a:t>
            </a:r>
            <a:r>
              <a:rPr lang="en-US" sz="1400" b="0" i="0" dirty="0">
                <a:solidFill>
                  <a:srgbClr val="404040"/>
                </a:solidFill>
              </a:rPr>
              <a:t> — last login time</a:t>
            </a:r>
          </a:p>
          <a:p>
            <a:pPr algn="l">
              <a:spcBef>
                <a:spcPts val="1000"/>
              </a:spcBef>
            </a:pPr>
            <a:r>
              <a:rPr lang="en-US" sz="1400" b="1" i="0" dirty="0">
                <a:solidFill>
                  <a:srgbClr val="156082"/>
                </a:solidFill>
              </a:rPr>
              <a:t>Account_Status</a:t>
            </a:r>
            <a:r>
              <a:rPr lang="en-US" sz="1400" b="0" i="0" dirty="0">
                <a:solidFill>
                  <a:srgbClr val="404040"/>
                </a:solidFill>
              </a:rPr>
              <a:t> — Active/Locked/Disabled</a:t>
            </a:r>
          </a:p>
        </p:txBody>
      </p:sp>
      <p:sp>
        <p:nvSpPr>
          <p:cNvPr id="15" name="Card 15"/>
          <p:cNvSpPr/>
          <p:nvPr/>
        </p:nvSpPr>
        <p:spPr>
          <a:xfrm>
            <a:off x="6234379" y="1920240"/>
            <a:ext cx="5408676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76200" dist="25400" dir="5400000" algn="t" rotWithShape="0">
              <a:srgbClr val="000000">
                <a:alpha val="20000"/>
              </a:srgbClr>
            </a:outerShdw>
          </a:effectLst>
        </p:spPr>
        <p:txBody>
          <a:bodyPr wrap="square" lIns="91440" tIns="91440" rIns="91440" bIns="91440" anchor="t">
            <a:noAutofit/>
          </a:bodyPr>
          <a:lstStyle/>
          <a:p>
            <a:endParaRPr lang="en-US"/>
          </a:p>
        </p:txBody>
      </p:sp>
      <p:sp>
        <p:nvSpPr>
          <p:cNvPr id="16" name="Header 16"/>
          <p:cNvSpPr txBox="1"/>
          <p:nvPr/>
        </p:nvSpPr>
        <p:spPr>
          <a:xfrm>
            <a:off x="6371539" y="2011680"/>
            <a:ext cx="5134356" cy="914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0"/>
              </a:spcBef>
            </a:pPr>
            <a:r>
              <a:rPr lang="en-US" sz="2100" b="1" i="0" dirty="0">
                <a:solidFill>
                  <a:srgbClr val="0E2841"/>
                </a:solidFill>
              </a:rPr>
              <a:t>DATABASE INTEGRITY</a:t>
            </a:r>
          </a:p>
          <a:p>
            <a:pPr algn="l">
              <a:spcBef>
                <a:spcPts val="300"/>
              </a:spcBef>
            </a:pPr>
            <a:r>
              <a:rPr lang="en-US" sz="1300" b="0" i="1" dirty="0">
                <a:solidFill>
                  <a:srgbClr val="595959"/>
                </a:solidFill>
                <a:highlight>
                  <a:srgbClr val="FFFF00"/>
                </a:highlight>
              </a:rPr>
              <a:t>Represents the integrity mechanisms implemented throughout the SQL schema</a:t>
            </a:r>
            <a:r>
              <a:rPr lang="en-US" sz="1300" b="0" i="1" dirty="0">
                <a:solidFill>
                  <a:srgbClr val="595959"/>
                </a:solidFill>
              </a:rPr>
              <a:t>.</a:t>
            </a:r>
          </a:p>
        </p:txBody>
      </p:sp>
      <p:sp>
        <p:nvSpPr>
          <p:cNvPr id="17" name="Rows 17"/>
          <p:cNvSpPr txBox="1"/>
          <p:nvPr/>
        </p:nvSpPr>
        <p:spPr>
          <a:xfrm>
            <a:off x="6371539" y="2926080"/>
            <a:ext cx="5134356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45720" rIns="45720" bIns="45720" anchor="t">
            <a:noAutofit/>
          </a:bodyPr>
          <a:lstStyle/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PRIMARY KEY</a:t>
            </a:r>
            <a:r>
              <a:rPr lang="en-US" sz="1500" b="0" i="0" dirty="0">
                <a:solidFill>
                  <a:srgbClr val="404040"/>
                </a:solidFill>
              </a:rPr>
              <a:t> — unique record identification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FOREIGN KEY</a:t>
            </a:r>
            <a:r>
              <a:rPr lang="en-US" sz="1500" b="0" i="0" dirty="0">
                <a:solidFill>
                  <a:srgbClr val="404040"/>
                </a:solidFill>
              </a:rPr>
              <a:t> — maintains table relationships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UNIQUE</a:t>
            </a:r>
            <a:r>
              <a:rPr lang="en-US" sz="1500" b="0" i="0" dirty="0">
                <a:solidFill>
                  <a:srgbClr val="404040"/>
                </a:solidFill>
              </a:rPr>
              <a:t> — prevents duplicate values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NOT NULL</a:t>
            </a:r>
            <a:r>
              <a:rPr lang="en-US" sz="1500" b="0" i="0" dirty="0">
                <a:solidFill>
                  <a:srgbClr val="404040"/>
                </a:solidFill>
              </a:rPr>
              <a:t> — requires essential values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CHECK</a:t>
            </a:r>
            <a:r>
              <a:rPr lang="en-US" sz="1500" b="0" i="0" dirty="0">
                <a:solidFill>
                  <a:srgbClr val="404040"/>
                </a:solidFill>
              </a:rPr>
              <a:t> — restricts invalid values</a:t>
            </a:r>
          </a:p>
          <a:p>
            <a:pPr algn="l">
              <a:spcBef>
                <a:spcPts val="1100"/>
              </a:spcBef>
            </a:pPr>
            <a:r>
              <a:rPr lang="en-US" sz="1500" b="1" i="0" dirty="0">
                <a:solidFill>
                  <a:srgbClr val="156082"/>
                </a:solidFill>
              </a:rPr>
              <a:t>DEFAULT</a:t>
            </a:r>
            <a:r>
              <a:rPr lang="en-US" sz="1500" b="0" i="0" dirty="0">
                <a:solidFill>
                  <a:srgbClr val="404040"/>
                </a:solidFill>
              </a:rPr>
              <a:t> — supplies predefined values</a:t>
            </a:r>
          </a:p>
        </p:txBody>
      </p:sp>
    </p:spTree>
  </p:cSld>
  <p:clrMapOvr>
    <a:masterClrMapping/>
  </p:clrMapOvr>
  <p:transition spd="slow">
    <p:circl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1189</Words>
  <Application>Microsoft Office PowerPoint</Application>
  <PresentationFormat>Widescreen</PresentationFormat>
  <Paragraphs>207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Banking Transaction &amp; Account Management System</vt:lpstr>
      <vt:lpstr>Table of Contents</vt:lpstr>
      <vt:lpstr>Entity-Relationship Diagram</vt:lpstr>
      <vt:lpstr>Part 1 — Core Banking (1/3)</vt:lpstr>
      <vt:lpstr>Part 1 — Core Banking (2/3)</vt:lpstr>
      <vt:lpstr>Part 1 — Core Banking (3/3)</vt:lpstr>
      <vt:lpstr>Part 2 — Transaction &amp; Fund Transfer</vt:lpstr>
      <vt:lpstr>Part 3 — Loan Management (1/2)</vt:lpstr>
      <vt:lpstr>Part 3 — Loan Management (2/2)</vt:lpstr>
      <vt:lpstr>Part 4 — Authentication &amp; Data Integrity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koushik maity</dc:creator>
  <cp:lastModifiedBy>Rajeev Lalawat</cp:lastModifiedBy>
  <cp:revision>2</cp:revision>
  <dcterms:created xsi:type="dcterms:W3CDTF">2026-09-30T18:11:19Z</dcterms:created>
  <dcterms:modified xsi:type="dcterms:W3CDTF">2026-09-30T20:40:54Z</dcterms:modified>
</cp:coreProperties>
</file>